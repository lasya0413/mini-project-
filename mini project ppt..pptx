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72" r:id="rId4"/>
    <p:sldId id="259" r:id="rId5"/>
    <p:sldId id="260" r:id="rId6"/>
    <p:sldId id="261" r:id="rId7"/>
    <p:sldId id="273" r:id="rId8"/>
    <p:sldId id="270" r:id="rId9"/>
    <p:sldId id="276" r:id="rId10"/>
    <p:sldId id="262" r:id="rId11"/>
    <p:sldId id="263" r:id="rId12"/>
    <p:sldId id="264" r:id="rId13"/>
    <p:sldId id="265" r:id="rId14"/>
    <p:sldId id="267" r:id="rId15"/>
    <p:sldId id="275" r:id="rId16"/>
    <p:sldId id="268" r:id="rId17"/>
    <p:sldId id="269" r:id="rId18"/>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37"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3" d="100"/>
          <a:sy n="83" d="100"/>
        </p:scale>
        <p:origin x="72" y="461"/>
      </p:cViewPr>
      <p:guideLst>
        <p:guide orient="horz" pos="2837"/>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068"/>
          </a:xfrm>
          <a:prstGeom prst="rect">
            <a:avLst/>
          </a:prstGeom>
        </p:spPr>
        <p:txBody>
          <a:bodyPr vert="horz" lIns="91440" tIns="45720" rIns="91440" bIns="45720" rtlCol="0"/>
          <a:lstStyle>
            <a:lvl1pPr algn="r">
              <a:defRPr sz="1200"/>
            </a:lvl1pPr>
          </a:lstStyle>
          <a:p>
            <a:fld id="{3EFD42F7-718C-4B98-AAEC-167E6DDD60A7}" type="datetimeFigureOut">
              <a:rPr lang="en-US" smtClean="0"/>
              <a:t>7/11/2025</a:t>
            </a:fld>
            <a:endParaRPr lang="en-US"/>
          </a:p>
        </p:txBody>
      </p:sp>
      <p:sp>
        <p:nvSpPr>
          <p:cNvPr id="4" name="Slide Image Placeholder 3"/>
          <p:cNvSpPr>
            <a:spLocks noGrp="1" noRot="1" noChangeAspect="1"/>
          </p:cNvSpPr>
          <p:nvPr>
            <p:ph type="sldImg" idx="2"/>
          </p:nvPr>
        </p:nvSpPr>
        <p:spPr>
          <a:xfrm>
            <a:off x="3028950"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5309"/>
            <a:ext cx="7315200" cy="20252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5432"/>
            <a:ext cx="3962400"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85432"/>
            <a:ext cx="3962400" cy="258068"/>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028950" y="642938"/>
            <a:ext cx="3086100" cy="1736725"/>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3025" y="68453"/>
            <a:ext cx="4514215" cy="162560"/>
          </a:xfrm>
          <a:prstGeom prst="rect">
            <a:avLst/>
          </a:prstGeom>
        </p:spPr>
        <p:txBody>
          <a:bodyPr wrap="square" lIns="0" tIns="0" rIns="0" bIns="0">
            <a:spAutoFit/>
          </a:bodyPr>
          <a:lstStyle>
            <a:lvl1pPr>
              <a:defRPr sz="2700" b="1" i="0">
                <a:solidFill>
                  <a:srgbClr val="85200C"/>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6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7/11/2025</a:t>
            </a:fld>
            <a:endParaRPr lang="en-US"/>
          </a:p>
        </p:txBody>
      </p:sp>
      <p:sp>
        <p:nvSpPr>
          <p:cNvPr id="6" name="Holder 6"/>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08585">
              <a:lnSpc>
                <a:spcPct val="100000"/>
              </a:lnSpc>
              <a:spcBef>
                <a:spcPts val="28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85200C"/>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sz="16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7/11/2025</a:t>
            </a:fld>
            <a:endParaRPr lang="en-US"/>
          </a:p>
        </p:txBody>
      </p:sp>
      <p:sp>
        <p:nvSpPr>
          <p:cNvPr id="6" name="Holder 6"/>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08585">
              <a:lnSpc>
                <a:spcPct val="100000"/>
              </a:lnSpc>
              <a:spcBef>
                <a:spcPts val="28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85200C"/>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7/11/2025</a:t>
            </a:fld>
            <a:endParaRPr lang="en-US"/>
          </a:p>
        </p:txBody>
      </p:sp>
      <p:sp>
        <p:nvSpPr>
          <p:cNvPr id="7" name="Holder 7"/>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08585">
              <a:lnSpc>
                <a:spcPct val="100000"/>
              </a:lnSpc>
              <a:spcBef>
                <a:spcPts val="28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85200C"/>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7/11/2025</a:t>
            </a:fld>
            <a:endParaRPr lang="en-US"/>
          </a:p>
        </p:txBody>
      </p:sp>
      <p:sp>
        <p:nvSpPr>
          <p:cNvPr id="5" name="Holder 5"/>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08585">
              <a:lnSpc>
                <a:spcPct val="100000"/>
              </a:lnSpc>
              <a:spcBef>
                <a:spcPts val="28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7/11/2025</a:t>
            </a:fld>
            <a:endParaRPr lang="en-US"/>
          </a:p>
        </p:txBody>
      </p:sp>
      <p:sp>
        <p:nvSpPr>
          <p:cNvPr id="4" name="Holder 4"/>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08585">
              <a:lnSpc>
                <a:spcPct val="100000"/>
              </a:lnSpc>
              <a:spcBef>
                <a:spcPts val="28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01675" y="292415"/>
            <a:ext cx="7740650" cy="743082"/>
          </a:xfrm>
          <a:prstGeom prst="rect">
            <a:avLst/>
          </a:prstGeom>
        </p:spPr>
        <p:txBody>
          <a:bodyPr wrap="square" lIns="0" tIns="0" rIns="0" bIns="0">
            <a:spAutoFit/>
          </a:bodyPr>
          <a:lstStyle>
            <a:lvl1pPr>
              <a:defRPr sz="2700" b="1" i="0">
                <a:solidFill>
                  <a:srgbClr val="85200C"/>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327650" y="1186802"/>
            <a:ext cx="8423910" cy="2962910"/>
          </a:xfrm>
          <a:prstGeom prst="rect">
            <a:avLst/>
          </a:prstGeom>
        </p:spPr>
        <p:txBody>
          <a:bodyPr wrap="square" lIns="0" tIns="0" rIns="0" bIns="0">
            <a:spAutoFit/>
          </a:bodyPr>
          <a:lstStyle>
            <a:lvl1pPr>
              <a:defRPr sz="16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7/11/2025</a:t>
            </a:fld>
            <a:endParaRPr lang="en-US"/>
          </a:p>
        </p:txBody>
      </p:sp>
      <p:sp>
        <p:nvSpPr>
          <p:cNvPr id="6" name="Holder 6"/>
          <p:cNvSpPr>
            <a:spLocks noGrp="1"/>
          </p:cNvSpPr>
          <p:nvPr>
            <p:ph type="sldNum" sz="quarter" idx="7"/>
          </p:nvPr>
        </p:nvSpPr>
        <p:spPr>
          <a:xfrm>
            <a:off x="8878967" y="4864742"/>
            <a:ext cx="230631" cy="202890"/>
          </a:xfrm>
          <a:prstGeom prst="rect">
            <a:avLst/>
          </a:prstGeom>
        </p:spPr>
        <p:txBody>
          <a:bodyPr wrap="square" lIns="0" tIns="0" rIns="0" bIns="0">
            <a:spAutoFit/>
          </a:bodyPr>
          <a:lstStyle>
            <a:lvl1pPr>
              <a:defRPr sz="1000" b="0" i="0">
                <a:solidFill>
                  <a:srgbClr val="595959"/>
                </a:solidFill>
                <a:latin typeface="Arial MT"/>
                <a:cs typeface="Arial MT"/>
              </a:defRPr>
            </a:lvl1pPr>
          </a:lstStyle>
          <a:p>
            <a:pPr marL="108585">
              <a:lnSpc>
                <a:spcPct val="100000"/>
              </a:lnSpc>
              <a:spcBef>
                <a:spcPts val="28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6086" y="223300"/>
            <a:ext cx="1078980" cy="1045734"/>
          </a:xfrm>
          <a:prstGeom prst="rect">
            <a:avLst/>
          </a:prstGeom>
        </p:spPr>
      </p:pic>
      <p:sp>
        <p:nvSpPr>
          <p:cNvPr id="3" name="object 3"/>
          <p:cNvSpPr txBox="1"/>
          <p:nvPr/>
        </p:nvSpPr>
        <p:spPr>
          <a:xfrm>
            <a:off x="497840" y="1503629"/>
            <a:ext cx="8148320" cy="1911077"/>
          </a:xfrm>
          <a:prstGeom prst="rect">
            <a:avLst/>
          </a:prstGeom>
        </p:spPr>
        <p:txBody>
          <a:bodyPr vert="horz" wrap="square" lIns="0" tIns="12700" rIns="0" bIns="0" rtlCol="0">
            <a:noAutofit/>
          </a:bodyPr>
          <a:lstStyle/>
          <a:p>
            <a:pPr marL="57150" algn="ctr">
              <a:lnSpc>
                <a:spcPct val="100000"/>
              </a:lnSpc>
              <a:spcBef>
                <a:spcPts val="100"/>
              </a:spcBef>
            </a:pPr>
            <a:r>
              <a:rPr sz="1900" b="1" dirty="0">
                <a:latin typeface="Times New Roman" panose="02020603050405020304"/>
                <a:cs typeface="Times New Roman" panose="02020603050405020304"/>
              </a:rPr>
              <a:t>Department</a:t>
            </a:r>
            <a:r>
              <a:rPr sz="1900" b="1" spc="-70" dirty="0">
                <a:latin typeface="Times New Roman" panose="02020603050405020304"/>
                <a:cs typeface="Times New Roman" panose="02020603050405020304"/>
              </a:rPr>
              <a:t> </a:t>
            </a:r>
            <a:r>
              <a:rPr sz="1900" b="1" dirty="0">
                <a:latin typeface="Times New Roman" panose="02020603050405020304"/>
                <a:cs typeface="Times New Roman" panose="02020603050405020304"/>
              </a:rPr>
              <a:t>of</a:t>
            </a:r>
            <a:r>
              <a:rPr sz="1900" b="1" spc="-45" dirty="0">
                <a:latin typeface="Times New Roman" panose="02020603050405020304"/>
                <a:cs typeface="Times New Roman" panose="02020603050405020304"/>
              </a:rPr>
              <a:t> </a:t>
            </a:r>
            <a:r>
              <a:rPr sz="1900" b="1" spc="-10" dirty="0">
                <a:latin typeface="Times New Roman" panose="02020603050405020304"/>
                <a:cs typeface="Times New Roman" panose="02020603050405020304"/>
              </a:rPr>
              <a:t>Electronics</a:t>
            </a:r>
            <a:r>
              <a:rPr sz="1900" b="1" spc="-105" dirty="0">
                <a:latin typeface="Times New Roman" panose="02020603050405020304"/>
                <a:cs typeface="Times New Roman" panose="02020603050405020304"/>
              </a:rPr>
              <a:t> </a:t>
            </a:r>
            <a:r>
              <a:rPr sz="1900" b="1" dirty="0">
                <a:latin typeface="Times New Roman" panose="02020603050405020304"/>
                <a:cs typeface="Times New Roman" panose="02020603050405020304"/>
              </a:rPr>
              <a:t>And</a:t>
            </a:r>
            <a:r>
              <a:rPr sz="1900" b="1" spc="-45" dirty="0">
                <a:latin typeface="Times New Roman" panose="02020603050405020304"/>
                <a:cs typeface="Times New Roman" panose="02020603050405020304"/>
              </a:rPr>
              <a:t> </a:t>
            </a:r>
            <a:r>
              <a:rPr sz="1900" b="1" spc="-10" dirty="0">
                <a:latin typeface="Times New Roman" panose="02020603050405020304"/>
                <a:cs typeface="Times New Roman" panose="02020603050405020304"/>
              </a:rPr>
              <a:t>Communication</a:t>
            </a:r>
            <a:r>
              <a:rPr sz="1900" b="1" spc="-50" dirty="0">
                <a:latin typeface="Times New Roman" panose="02020603050405020304"/>
                <a:cs typeface="Times New Roman" panose="02020603050405020304"/>
              </a:rPr>
              <a:t> </a:t>
            </a:r>
            <a:r>
              <a:rPr sz="1900" b="1" spc="-10" dirty="0">
                <a:latin typeface="Times New Roman" panose="02020603050405020304"/>
                <a:cs typeface="Times New Roman" panose="02020603050405020304"/>
              </a:rPr>
              <a:t>Engineering</a:t>
            </a:r>
            <a:endParaRPr sz="1900" dirty="0">
              <a:latin typeface="Times New Roman" panose="02020603050405020304"/>
              <a:cs typeface="Times New Roman" panose="02020603050405020304"/>
            </a:endParaRPr>
          </a:p>
          <a:p>
            <a:pPr algn="ctr">
              <a:lnSpc>
                <a:spcPct val="100000"/>
              </a:lnSpc>
              <a:spcBef>
                <a:spcPts val="245"/>
              </a:spcBef>
            </a:pPr>
            <a:r>
              <a:rPr lang="en-IN" sz="1900" dirty="0">
                <a:latin typeface="Times New Roman" panose="02020603050405020304"/>
                <a:cs typeface="Times New Roman" panose="02020603050405020304"/>
              </a:rPr>
              <a:t>A Minor project on</a:t>
            </a:r>
            <a:endParaRPr sz="1900" dirty="0">
              <a:latin typeface="Times New Roman" panose="02020603050405020304"/>
              <a:cs typeface="Times New Roman" panose="02020603050405020304"/>
            </a:endParaRPr>
          </a:p>
          <a:p>
            <a:pPr marL="62865" marR="5080" algn="ctr">
              <a:lnSpc>
                <a:spcPct val="100000"/>
              </a:lnSpc>
              <a:spcBef>
                <a:spcPts val="1305"/>
              </a:spcBef>
            </a:pPr>
            <a:r>
              <a:rPr lang="en-US" altLang="en-US" sz="1800" b="1" spc="-20" dirty="0">
                <a:solidFill>
                  <a:srgbClr val="274E13"/>
                </a:solidFill>
                <a:latin typeface="Times New Roman" panose="02020603050405020304"/>
                <a:cs typeface="Times New Roman" panose="02020603050405020304"/>
              </a:rPr>
              <a:t>RTL BASED USB PACKET GENERATOR FOR REAL TIME DATA STREAMING </a:t>
            </a:r>
            <a:endParaRPr sz="1800" dirty="0">
              <a:latin typeface="Times New Roman" panose="02020603050405020304"/>
              <a:cs typeface="Times New Roman" panose="02020603050405020304"/>
            </a:endParaRPr>
          </a:p>
          <a:p>
            <a:pPr>
              <a:lnSpc>
                <a:spcPct val="100000"/>
              </a:lnSpc>
              <a:spcBef>
                <a:spcPts val="570"/>
              </a:spcBef>
            </a:pPr>
            <a:r>
              <a:rPr sz="1500" b="1" spc="-20" dirty="0">
                <a:solidFill>
                  <a:srgbClr val="351B75"/>
                </a:solidFill>
                <a:latin typeface="Times New Roman" panose="02020603050405020304"/>
                <a:cs typeface="Times New Roman" panose="02020603050405020304"/>
              </a:rPr>
              <a:t>BATCH</a:t>
            </a:r>
            <a:r>
              <a:rPr sz="1500" b="1" spc="-40" dirty="0">
                <a:solidFill>
                  <a:srgbClr val="351B75"/>
                </a:solidFill>
                <a:latin typeface="Times New Roman" panose="02020603050405020304"/>
                <a:cs typeface="Times New Roman" panose="02020603050405020304"/>
              </a:rPr>
              <a:t> </a:t>
            </a:r>
            <a:r>
              <a:rPr sz="1500" b="1" dirty="0">
                <a:solidFill>
                  <a:srgbClr val="351B75"/>
                </a:solidFill>
                <a:latin typeface="Times New Roman" panose="02020603050405020304"/>
                <a:cs typeface="Times New Roman" panose="02020603050405020304"/>
              </a:rPr>
              <a:t>NO:</a:t>
            </a:r>
            <a:r>
              <a:rPr sz="1500" b="1" spc="-35" dirty="0">
                <a:solidFill>
                  <a:srgbClr val="351B75"/>
                </a:solidFill>
                <a:latin typeface="Times New Roman" panose="02020603050405020304"/>
                <a:cs typeface="Times New Roman" panose="02020603050405020304"/>
              </a:rPr>
              <a:t> </a:t>
            </a:r>
            <a:r>
              <a:rPr lang="en-IN" altLang="en-US" sz="1500" b="1" spc="-35" dirty="0">
                <a:solidFill>
                  <a:srgbClr val="351B75"/>
                </a:solidFill>
                <a:latin typeface="Times New Roman" panose="02020603050405020304"/>
                <a:cs typeface="Times New Roman" panose="02020603050405020304"/>
              </a:rPr>
              <a:t>13</a:t>
            </a:r>
          </a:p>
        </p:txBody>
      </p:sp>
      <p:sp>
        <p:nvSpPr>
          <p:cNvPr id="4" name="object 4"/>
          <p:cNvSpPr txBox="1"/>
          <p:nvPr/>
        </p:nvSpPr>
        <p:spPr>
          <a:xfrm>
            <a:off x="412114" y="3290526"/>
            <a:ext cx="2181225" cy="358775"/>
          </a:xfrm>
          <a:prstGeom prst="rect">
            <a:avLst/>
          </a:prstGeom>
        </p:spPr>
        <p:txBody>
          <a:bodyPr vert="horz" wrap="square" lIns="0" tIns="12700" rIns="0" bIns="0" rtlCol="0">
            <a:spAutoFit/>
          </a:bodyPr>
          <a:lstStyle/>
          <a:p>
            <a:pPr marL="12700" marR="313690">
              <a:lnSpc>
                <a:spcPct val="150000"/>
              </a:lnSpc>
              <a:spcBef>
                <a:spcPts val="100"/>
              </a:spcBef>
            </a:pPr>
            <a:r>
              <a:rPr sz="1500" b="1" dirty="0">
                <a:solidFill>
                  <a:srgbClr val="660000"/>
                </a:solidFill>
                <a:latin typeface="Times New Roman" panose="02020603050405020304"/>
                <a:cs typeface="Times New Roman" panose="02020603050405020304"/>
              </a:rPr>
              <a:t>TEAM</a:t>
            </a:r>
            <a:r>
              <a:rPr sz="1500" b="1" spc="-20" dirty="0">
                <a:solidFill>
                  <a:srgbClr val="660000"/>
                </a:solidFill>
                <a:latin typeface="Times New Roman" panose="02020603050405020304"/>
                <a:cs typeface="Times New Roman" panose="02020603050405020304"/>
              </a:rPr>
              <a:t> </a:t>
            </a:r>
            <a:r>
              <a:rPr sz="1500" b="1" spc="-10" dirty="0">
                <a:solidFill>
                  <a:srgbClr val="660000"/>
                </a:solidFill>
                <a:latin typeface="Times New Roman" panose="02020603050405020304"/>
                <a:cs typeface="Times New Roman" panose="02020603050405020304"/>
              </a:rPr>
              <a:t>DETAILS: </a:t>
            </a:r>
            <a:endParaRPr sz="1500" dirty="0">
              <a:latin typeface="Times New Roman" panose="02020603050405020304"/>
              <a:cs typeface="Times New Roman" panose="02020603050405020304"/>
            </a:endParaRPr>
          </a:p>
        </p:txBody>
      </p:sp>
      <p:sp>
        <p:nvSpPr>
          <p:cNvPr id="5" name="object 5"/>
          <p:cNvSpPr txBox="1"/>
          <p:nvPr/>
        </p:nvSpPr>
        <p:spPr>
          <a:xfrm>
            <a:off x="2819400" y="3802380"/>
            <a:ext cx="1413510" cy="1217930"/>
          </a:xfrm>
          <a:prstGeom prst="rect">
            <a:avLst/>
          </a:prstGeom>
        </p:spPr>
        <p:txBody>
          <a:bodyPr vert="horz" wrap="square" lIns="0" tIns="12700" rIns="0" bIns="0" rtlCol="0">
            <a:spAutoFit/>
          </a:bodyPr>
          <a:lstStyle/>
          <a:p>
            <a:pPr marL="35560" marR="5080" indent="-23495" algn="dist">
              <a:lnSpc>
                <a:spcPct val="100000"/>
              </a:lnSpc>
              <a:spcBef>
                <a:spcPts val="100"/>
              </a:spcBef>
            </a:pPr>
            <a:r>
              <a:rPr lang="en-IN" altLang="en-US" sz="1500" b="1" dirty="0">
                <a:latin typeface="Times New Roman" panose="02020603050405020304"/>
                <a:cs typeface="Times New Roman" panose="02020603050405020304"/>
              </a:rPr>
              <a:t>(</a:t>
            </a:r>
            <a:r>
              <a:rPr lang="en-US" altLang="en-US" sz="1500" b="1" dirty="0">
                <a:latin typeface="Times New Roman" panose="02020603050405020304"/>
                <a:cs typeface="Times New Roman" panose="02020603050405020304"/>
              </a:rPr>
              <a:t>22H51A0484</a:t>
            </a:r>
            <a:r>
              <a:rPr lang="en-IN" altLang="en-US" sz="1500" b="1" dirty="0">
                <a:latin typeface="Times New Roman" panose="02020603050405020304"/>
                <a:cs typeface="Times New Roman" panose="02020603050405020304"/>
              </a:rPr>
              <a:t>)  </a:t>
            </a:r>
          </a:p>
          <a:p>
            <a:pPr marL="35560" marR="5080" indent="-23495" algn="dist">
              <a:lnSpc>
                <a:spcPct val="100000"/>
              </a:lnSpc>
              <a:spcBef>
                <a:spcPts val="100"/>
              </a:spcBef>
            </a:pPr>
            <a:r>
              <a:rPr lang="en-IN" altLang="en-US" sz="1500" b="1" dirty="0">
                <a:latin typeface="Times New Roman" panose="02020603050405020304"/>
                <a:cs typeface="Times New Roman" panose="02020603050405020304"/>
              </a:rPr>
              <a:t>(</a:t>
            </a:r>
            <a:r>
              <a:rPr lang="en-US" altLang="en-US" sz="1500" b="1" dirty="0">
                <a:latin typeface="Times New Roman" panose="02020603050405020304"/>
                <a:cs typeface="Times New Roman" panose="02020603050405020304"/>
              </a:rPr>
              <a:t>22H51A04</a:t>
            </a:r>
            <a:r>
              <a:rPr lang="en-IN" altLang="en-US" sz="1500" b="1" dirty="0">
                <a:latin typeface="Times New Roman" panose="02020603050405020304"/>
                <a:cs typeface="Times New Roman" panose="02020603050405020304"/>
              </a:rPr>
              <a:t>32)</a:t>
            </a:r>
            <a:endParaRPr lang="en-US" altLang="en-US" sz="1500" b="1" dirty="0">
              <a:latin typeface="Times New Roman" panose="02020603050405020304"/>
              <a:cs typeface="Times New Roman" panose="02020603050405020304"/>
            </a:endParaRPr>
          </a:p>
          <a:p>
            <a:pPr marL="35560" marR="5080" indent="-23495" algn="dist">
              <a:lnSpc>
                <a:spcPct val="100000"/>
              </a:lnSpc>
              <a:spcBef>
                <a:spcPts val="100"/>
              </a:spcBef>
            </a:pPr>
            <a:r>
              <a:rPr lang="en-IN" altLang="en-US" sz="1500" b="1" dirty="0">
                <a:latin typeface="Times New Roman" panose="02020603050405020304"/>
                <a:cs typeface="Times New Roman" panose="02020603050405020304"/>
              </a:rPr>
              <a:t>(</a:t>
            </a:r>
            <a:r>
              <a:rPr lang="en-US" altLang="en-US" sz="1500" b="1" dirty="0">
                <a:latin typeface="Times New Roman" panose="02020603050405020304"/>
                <a:cs typeface="Times New Roman" panose="02020603050405020304"/>
              </a:rPr>
              <a:t>22H51A04</a:t>
            </a:r>
            <a:r>
              <a:rPr lang="en-IN" altLang="en-US" sz="1500" b="1" dirty="0">
                <a:latin typeface="Times New Roman" panose="02020603050405020304"/>
                <a:cs typeface="Times New Roman" panose="02020603050405020304"/>
              </a:rPr>
              <a:t>79)</a:t>
            </a:r>
            <a:endParaRPr lang="en-US" altLang="en-US" sz="1500" b="1" dirty="0">
              <a:latin typeface="Times New Roman" panose="02020603050405020304"/>
              <a:cs typeface="Times New Roman" panose="02020603050405020304"/>
            </a:endParaRPr>
          </a:p>
          <a:p>
            <a:pPr marL="35560" marR="5080" indent="-23495" algn="dist">
              <a:lnSpc>
                <a:spcPct val="100000"/>
              </a:lnSpc>
              <a:spcBef>
                <a:spcPts val="100"/>
              </a:spcBef>
            </a:pPr>
            <a:r>
              <a:rPr lang="en-IN" altLang="en-US" sz="1500" b="1" dirty="0">
                <a:latin typeface="Times New Roman" panose="02020603050405020304"/>
                <a:cs typeface="Times New Roman" panose="02020603050405020304"/>
              </a:rPr>
              <a:t>(</a:t>
            </a:r>
            <a:r>
              <a:rPr lang="en-US" altLang="en-US" sz="1500" b="1" dirty="0">
                <a:latin typeface="Times New Roman" panose="02020603050405020304"/>
                <a:cs typeface="Times New Roman" panose="02020603050405020304"/>
              </a:rPr>
              <a:t>22H51A04</a:t>
            </a:r>
            <a:r>
              <a:rPr lang="en-IN" altLang="en-US" sz="1500" b="1" dirty="0">
                <a:latin typeface="Times New Roman" panose="02020603050405020304"/>
                <a:cs typeface="Times New Roman" panose="02020603050405020304"/>
              </a:rPr>
              <a:t>Q1)</a:t>
            </a:r>
            <a:endParaRPr lang="en-US" altLang="en-US" sz="1500" b="1" dirty="0">
              <a:latin typeface="Times New Roman" panose="02020603050405020304"/>
              <a:cs typeface="Times New Roman" panose="02020603050405020304"/>
            </a:endParaRPr>
          </a:p>
          <a:p>
            <a:pPr marL="35560" marR="5080" indent="-23495" algn="dist">
              <a:lnSpc>
                <a:spcPct val="100000"/>
              </a:lnSpc>
              <a:spcBef>
                <a:spcPts val="100"/>
              </a:spcBef>
            </a:pPr>
            <a:r>
              <a:rPr lang="en-IN" altLang="en-US" sz="1500" b="1" dirty="0">
                <a:latin typeface="Times New Roman" panose="02020603050405020304"/>
                <a:cs typeface="Times New Roman" panose="02020603050405020304"/>
              </a:rPr>
              <a:t>(</a:t>
            </a:r>
            <a:r>
              <a:rPr lang="en-US" altLang="en-US" sz="1500" b="1" dirty="0">
                <a:latin typeface="Times New Roman" panose="02020603050405020304"/>
                <a:cs typeface="Times New Roman" panose="02020603050405020304"/>
              </a:rPr>
              <a:t>22H51A04</a:t>
            </a:r>
            <a:r>
              <a:rPr lang="en-IN" altLang="en-US" sz="1500" b="1" dirty="0">
                <a:latin typeface="Times New Roman" panose="02020603050405020304"/>
                <a:cs typeface="Times New Roman" panose="02020603050405020304"/>
              </a:rPr>
              <a:t>H4)</a:t>
            </a:r>
          </a:p>
        </p:txBody>
      </p:sp>
      <p:sp>
        <p:nvSpPr>
          <p:cNvPr id="6" name="object 6"/>
          <p:cNvSpPr txBox="1"/>
          <p:nvPr/>
        </p:nvSpPr>
        <p:spPr>
          <a:xfrm>
            <a:off x="5116195" y="3997960"/>
            <a:ext cx="3095625" cy="813435"/>
          </a:xfrm>
          <a:prstGeom prst="rect">
            <a:avLst/>
          </a:prstGeom>
        </p:spPr>
        <p:txBody>
          <a:bodyPr vert="horz" wrap="square" lIns="0" tIns="44450" rIns="0" bIns="0" rtlCol="0">
            <a:noAutofit/>
          </a:bodyPr>
          <a:lstStyle/>
          <a:p>
            <a:pPr marL="12700">
              <a:lnSpc>
                <a:spcPct val="100000"/>
              </a:lnSpc>
              <a:spcBef>
                <a:spcPts val="350"/>
              </a:spcBef>
            </a:pPr>
            <a:r>
              <a:rPr sz="1500" b="1" dirty="0">
                <a:solidFill>
                  <a:srgbClr val="660000"/>
                </a:solidFill>
                <a:latin typeface="Times New Roman" panose="02020603050405020304"/>
                <a:cs typeface="Times New Roman" panose="02020603050405020304"/>
              </a:rPr>
              <a:t>Under</a:t>
            </a:r>
            <a:r>
              <a:rPr sz="1500" b="1" spc="-70" dirty="0">
                <a:solidFill>
                  <a:srgbClr val="660000"/>
                </a:solidFill>
                <a:latin typeface="Times New Roman" panose="02020603050405020304"/>
                <a:cs typeface="Times New Roman" panose="02020603050405020304"/>
              </a:rPr>
              <a:t> </a:t>
            </a:r>
            <a:r>
              <a:rPr sz="1500" b="1" dirty="0">
                <a:solidFill>
                  <a:srgbClr val="660000"/>
                </a:solidFill>
                <a:latin typeface="Times New Roman" panose="02020603050405020304"/>
                <a:cs typeface="Times New Roman" panose="02020603050405020304"/>
              </a:rPr>
              <a:t>the</a:t>
            </a:r>
            <a:r>
              <a:rPr sz="1500" b="1" spc="-45" dirty="0">
                <a:solidFill>
                  <a:srgbClr val="660000"/>
                </a:solidFill>
                <a:latin typeface="Times New Roman" panose="02020603050405020304"/>
                <a:cs typeface="Times New Roman" panose="02020603050405020304"/>
              </a:rPr>
              <a:t> </a:t>
            </a:r>
            <a:r>
              <a:rPr sz="1500" b="1" dirty="0">
                <a:solidFill>
                  <a:srgbClr val="660000"/>
                </a:solidFill>
                <a:latin typeface="Times New Roman" panose="02020603050405020304"/>
                <a:cs typeface="Times New Roman" panose="02020603050405020304"/>
              </a:rPr>
              <a:t>esteemed</a:t>
            </a:r>
            <a:r>
              <a:rPr sz="1500" b="1" spc="-45" dirty="0">
                <a:solidFill>
                  <a:srgbClr val="660000"/>
                </a:solidFill>
                <a:latin typeface="Times New Roman" panose="02020603050405020304"/>
                <a:cs typeface="Times New Roman" panose="02020603050405020304"/>
              </a:rPr>
              <a:t> </a:t>
            </a:r>
            <a:r>
              <a:rPr sz="1500" b="1" dirty="0">
                <a:solidFill>
                  <a:srgbClr val="660000"/>
                </a:solidFill>
                <a:latin typeface="Times New Roman" panose="02020603050405020304"/>
                <a:cs typeface="Times New Roman" panose="02020603050405020304"/>
              </a:rPr>
              <a:t>guidance</a:t>
            </a:r>
            <a:r>
              <a:rPr sz="1500" b="1" spc="-50" dirty="0">
                <a:solidFill>
                  <a:srgbClr val="660000"/>
                </a:solidFill>
                <a:latin typeface="Times New Roman" panose="02020603050405020304"/>
                <a:cs typeface="Times New Roman" panose="02020603050405020304"/>
              </a:rPr>
              <a:t> </a:t>
            </a:r>
            <a:r>
              <a:rPr sz="1500" b="1" spc="-25" dirty="0">
                <a:solidFill>
                  <a:srgbClr val="660000"/>
                </a:solidFill>
                <a:latin typeface="Times New Roman" panose="02020603050405020304"/>
                <a:cs typeface="Times New Roman" panose="02020603050405020304"/>
              </a:rPr>
              <a:t>of:</a:t>
            </a:r>
            <a:endParaRPr sz="1500" dirty="0">
              <a:latin typeface="Times New Roman" panose="02020603050405020304"/>
              <a:cs typeface="Times New Roman" panose="02020603050405020304"/>
            </a:endParaRPr>
          </a:p>
          <a:p>
            <a:pPr marL="12700">
              <a:lnSpc>
                <a:spcPct val="100000"/>
              </a:lnSpc>
              <a:spcBef>
                <a:spcPts val="265"/>
              </a:spcBef>
            </a:pPr>
            <a:r>
              <a:rPr sz="1600" b="1" dirty="0">
                <a:latin typeface="Times New Roman" panose="02020603050405020304"/>
                <a:cs typeface="Times New Roman" panose="02020603050405020304"/>
              </a:rPr>
              <a:t>M</a:t>
            </a:r>
            <a:r>
              <a:rPr lang="en-IN" sz="1600" b="1" dirty="0" err="1">
                <a:latin typeface="Times New Roman" panose="02020603050405020304"/>
                <a:cs typeface="Times New Roman" panose="02020603050405020304"/>
              </a:rPr>
              <a:t>rs</a:t>
            </a:r>
            <a:r>
              <a:rPr lang="en-IN" sz="1600" b="1" dirty="0">
                <a:latin typeface="Times New Roman" panose="02020603050405020304"/>
                <a:cs typeface="Times New Roman" panose="02020603050405020304"/>
              </a:rPr>
              <a:t>. M. </a:t>
            </a:r>
            <a:r>
              <a:rPr lang="en-IN" sz="1600" b="1" dirty="0" err="1">
                <a:latin typeface="Times New Roman" panose="02020603050405020304"/>
                <a:cs typeface="Times New Roman" panose="02020603050405020304"/>
              </a:rPr>
              <a:t>Sirin</a:t>
            </a:r>
            <a:r>
              <a:rPr lang="en-IN" sz="1600" b="1" dirty="0">
                <a:latin typeface="Times New Roman" panose="02020603050405020304"/>
                <a:cs typeface="Times New Roman" panose="02020603050405020304"/>
              </a:rPr>
              <a:t> </a:t>
            </a:r>
            <a:r>
              <a:rPr lang="en-IN" sz="1600" b="1" dirty="0" err="1">
                <a:latin typeface="Times New Roman" panose="02020603050405020304"/>
                <a:cs typeface="Times New Roman" panose="02020603050405020304"/>
              </a:rPr>
              <a:t>Kumari</a:t>
            </a:r>
            <a:endParaRPr lang="en-IN" sz="1600" b="1" dirty="0">
              <a:latin typeface="Times New Roman" panose="02020603050405020304"/>
              <a:cs typeface="Times New Roman" panose="02020603050405020304"/>
            </a:endParaRPr>
          </a:p>
          <a:p>
            <a:pPr marL="12700">
              <a:lnSpc>
                <a:spcPct val="100000"/>
              </a:lnSpc>
              <a:spcBef>
                <a:spcPts val="265"/>
              </a:spcBef>
            </a:pPr>
            <a:r>
              <a:rPr lang="en-IN" altLang="en-US" sz="1600" b="1" dirty="0">
                <a:latin typeface="Times New Roman" panose="02020603050405020304"/>
                <a:cs typeface="Times New Roman" panose="02020603050405020304"/>
              </a:rPr>
              <a:t>A</a:t>
            </a:r>
            <a:r>
              <a:rPr sz="1600" b="1" dirty="0">
                <a:latin typeface="Times New Roman" panose="02020603050405020304"/>
                <a:cs typeface="Times New Roman" panose="02020603050405020304"/>
              </a:rPr>
              <a:t>ssistant</a:t>
            </a:r>
            <a:r>
              <a:rPr sz="1600" b="1" spc="-65" dirty="0">
                <a:latin typeface="Times New Roman" panose="02020603050405020304"/>
                <a:cs typeface="Times New Roman" panose="02020603050405020304"/>
              </a:rPr>
              <a:t> </a:t>
            </a:r>
            <a:r>
              <a:rPr sz="1600" b="1" spc="-10" dirty="0">
                <a:latin typeface="Times New Roman" panose="02020603050405020304"/>
                <a:cs typeface="Times New Roman" panose="02020603050405020304"/>
              </a:rPr>
              <a:t>professor</a:t>
            </a:r>
            <a:endParaRPr sz="1600" dirty="0">
              <a:latin typeface="Times New Roman" panose="02020603050405020304"/>
              <a:cs typeface="Times New Roman" panose="02020603050405020304"/>
            </a:endParaRPr>
          </a:p>
        </p:txBody>
      </p:sp>
      <p:sp>
        <p:nvSpPr>
          <p:cNvPr id="7" name="object 7"/>
          <p:cNvSpPr txBox="1">
            <a:spLocks noGrp="1"/>
          </p:cNvSpPr>
          <p:nvPr>
            <p:ph type="title"/>
          </p:nvPr>
        </p:nvSpPr>
        <p:spPr>
          <a:xfrm>
            <a:off x="1514439" y="162566"/>
            <a:ext cx="7396480" cy="375920"/>
          </a:xfrm>
          <a:prstGeom prst="rect">
            <a:avLst/>
          </a:prstGeom>
        </p:spPr>
        <p:txBody>
          <a:bodyPr vert="horz" wrap="square" lIns="0" tIns="12700" rIns="0" bIns="0" rtlCol="0">
            <a:spAutoFit/>
          </a:bodyPr>
          <a:lstStyle/>
          <a:p>
            <a:pPr marL="12700">
              <a:lnSpc>
                <a:spcPct val="100000"/>
              </a:lnSpc>
              <a:spcBef>
                <a:spcPts val="100"/>
              </a:spcBef>
            </a:pPr>
            <a:r>
              <a:rPr sz="2300" dirty="0">
                <a:solidFill>
                  <a:srgbClr val="0000FF"/>
                </a:solidFill>
              </a:rPr>
              <a:t>CMR</a:t>
            </a:r>
            <a:r>
              <a:rPr sz="2300" spc="-60" dirty="0">
                <a:solidFill>
                  <a:srgbClr val="0000FF"/>
                </a:solidFill>
              </a:rPr>
              <a:t> </a:t>
            </a:r>
            <a:r>
              <a:rPr sz="2300" spc="-10" dirty="0">
                <a:solidFill>
                  <a:srgbClr val="0000FF"/>
                </a:solidFill>
              </a:rPr>
              <a:t>COLLEGE</a:t>
            </a:r>
            <a:r>
              <a:rPr sz="2300" spc="-55" dirty="0">
                <a:solidFill>
                  <a:srgbClr val="0000FF"/>
                </a:solidFill>
              </a:rPr>
              <a:t> </a:t>
            </a:r>
            <a:r>
              <a:rPr sz="2300" dirty="0">
                <a:solidFill>
                  <a:srgbClr val="0000FF"/>
                </a:solidFill>
              </a:rPr>
              <a:t>OF</a:t>
            </a:r>
            <a:r>
              <a:rPr sz="2300" spc="-135" dirty="0">
                <a:solidFill>
                  <a:srgbClr val="0000FF"/>
                </a:solidFill>
              </a:rPr>
              <a:t> </a:t>
            </a:r>
            <a:r>
              <a:rPr sz="2300" spc="-10" dirty="0">
                <a:solidFill>
                  <a:srgbClr val="0000FF"/>
                </a:solidFill>
              </a:rPr>
              <a:t>ENGINEERING</a:t>
            </a:r>
            <a:r>
              <a:rPr sz="2300" spc="-60" dirty="0">
                <a:solidFill>
                  <a:srgbClr val="0000FF"/>
                </a:solidFill>
              </a:rPr>
              <a:t> </a:t>
            </a:r>
            <a:r>
              <a:rPr sz="2300" dirty="0">
                <a:solidFill>
                  <a:srgbClr val="0000FF"/>
                </a:solidFill>
              </a:rPr>
              <a:t>&amp;</a:t>
            </a:r>
            <a:r>
              <a:rPr sz="2300" spc="-95" dirty="0">
                <a:solidFill>
                  <a:srgbClr val="0000FF"/>
                </a:solidFill>
              </a:rPr>
              <a:t> </a:t>
            </a:r>
            <a:r>
              <a:rPr sz="2300" spc="-10" dirty="0">
                <a:solidFill>
                  <a:srgbClr val="0000FF"/>
                </a:solidFill>
              </a:rPr>
              <a:t>TECHNOLOGY</a:t>
            </a:r>
            <a:endParaRPr sz="2300"/>
          </a:p>
        </p:txBody>
      </p:sp>
      <p:sp>
        <p:nvSpPr>
          <p:cNvPr id="8" name="object 8"/>
          <p:cNvSpPr txBox="1"/>
          <p:nvPr/>
        </p:nvSpPr>
        <p:spPr>
          <a:xfrm>
            <a:off x="2310414" y="520096"/>
            <a:ext cx="5807710" cy="695325"/>
          </a:xfrm>
          <a:prstGeom prst="rect">
            <a:avLst/>
          </a:prstGeom>
        </p:spPr>
        <p:txBody>
          <a:bodyPr vert="horz" wrap="square" lIns="0" tIns="15240" rIns="0" bIns="0" rtlCol="0">
            <a:spAutoFit/>
          </a:bodyPr>
          <a:lstStyle/>
          <a:p>
            <a:pPr marL="2405380">
              <a:lnSpc>
                <a:spcPct val="100000"/>
              </a:lnSpc>
              <a:spcBef>
                <a:spcPts val="120"/>
              </a:spcBef>
            </a:pPr>
            <a:r>
              <a:rPr sz="900" b="1" dirty="0">
                <a:solidFill>
                  <a:srgbClr val="FF0000"/>
                </a:solidFill>
                <a:latin typeface="Times New Roman" panose="02020603050405020304"/>
                <a:cs typeface="Times New Roman" panose="02020603050405020304"/>
              </a:rPr>
              <a:t>(UGC</a:t>
            </a:r>
            <a:r>
              <a:rPr sz="900" b="1" spc="-20" dirty="0">
                <a:solidFill>
                  <a:srgbClr val="FF0000"/>
                </a:solidFill>
                <a:latin typeface="Times New Roman" panose="02020603050405020304"/>
                <a:cs typeface="Times New Roman" panose="02020603050405020304"/>
              </a:rPr>
              <a:t> </a:t>
            </a:r>
            <a:r>
              <a:rPr sz="900" b="1" spc="-10" dirty="0">
                <a:solidFill>
                  <a:srgbClr val="FF0000"/>
                </a:solidFill>
                <a:latin typeface="Times New Roman" panose="02020603050405020304"/>
                <a:cs typeface="Times New Roman" panose="02020603050405020304"/>
              </a:rPr>
              <a:t>Autonomous)</a:t>
            </a:r>
            <a:endParaRPr sz="900">
              <a:latin typeface="Times New Roman" panose="02020603050405020304"/>
              <a:cs typeface="Times New Roman" panose="02020603050405020304"/>
            </a:endParaRPr>
          </a:p>
          <a:p>
            <a:pPr marL="1247140" marR="1252855" indent="292100">
              <a:lnSpc>
                <a:spcPct val="100000"/>
              </a:lnSpc>
              <a:spcBef>
                <a:spcPts val="5"/>
              </a:spcBef>
            </a:pPr>
            <a:r>
              <a:rPr sz="900" b="1" spc="-10" dirty="0">
                <a:solidFill>
                  <a:srgbClr val="A7291E"/>
                </a:solidFill>
                <a:latin typeface="Times New Roman" panose="02020603050405020304"/>
                <a:cs typeface="Times New Roman" panose="02020603050405020304"/>
              </a:rPr>
              <a:t>(NAAC</a:t>
            </a:r>
            <a:r>
              <a:rPr sz="900" b="1" spc="-50" dirty="0">
                <a:solidFill>
                  <a:srgbClr val="A7291E"/>
                </a:solidFill>
                <a:latin typeface="Times New Roman" panose="02020603050405020304"/>
                <a:cs typeface="Times New Roman" panose="02020603050405020304"/>
              </a:rPr>
              <a:t> </a:t>
            </a:r>
            <a:r>
              <a:rPr sz="900" b="1" spc="-10" dirty="0">
                <a:solidFill>
                  <a:srgbClr val="A7291E"/>
                </a:solidFill>
                <a:latin typeface="Times New Roman" panose="02020603050405020304"/>
                <a:cs typeface="Times New Roman" panose="02020603050405020304"/>
              </a:rPr>
              <a:t>Accredited</a:t>
            </a:r>
            <a:r>
              <a:rPr sz="900" b="1" spc="-20" dirty="0">
                <a:solidFill>
                  <a:srgbClr val="A7291E"/>
                </a:solidFill>
                <a:latin typeface="Times New Roman" panose="02020603050405020304"/>
                <a:cs typeface="Times New Roman" panose="02020603050405020304"/>
              </a:rPr>
              <a:t> </a:t>
            </a:r>
            <a:r>
              <a:rPr sz="900" b="1" dirty="0">
                <a:solidFill>
                  <a:srgbClr val="A7291E"/>
                </a:solidFill>
                <a:latin typeface="Times New Roman" panose="02020603050405020304"/>
                <a:cs typeface="Times New Roman" panose="02020603050405020304"/>
              </a:rPr>
              <a:t>with</a:t>
            </a:r>
            <a:r>
              <a:rPr sz="900" b="1" spc="-10" dirty="0">
                <a:solidFill>
                  <a:srgbClr val="A7291E"/>
                </a:solidFill>
                <a:latin typeface="Times New Roman" panose="02020603050405020304"/>
                <a:cs typeface="Times New Roman" panose="02020603050405020304"/>
              </a:rPr>
              <a:t> ‘A+’</a:t>
            </a:r>
            <a:r>
              <a:rPr sz="900" b="1" spc="-70" dirty="0">
                <a:solidFill>
                  <a:srgbClr val="A7291E"/>
                </a:solidFill>
                <a:latin typeface="Times New Roman" panose="02020603050405020304"/>
                <a:cs typeface="Times New Roman" panose="02020603050405020304"/>
              </a:rPr>
              <a:t> </a:t>
            </a:r>
            <a:r>
              <a:rPr sz="900" b="1" dirty="0">
                <a:solidFill>
                  <a:srgbClr val="A7291E"/>
                </a:solidFill>
                <a:latin typeface="Times New Roman" panose="02020603050405020304"/>
                <a:cs typeface="Times New Roman" panose="02020603050405020304"/>
              </a:rPr>
              <a:t>Grade</a:t>
            </a:r>
            <a:r>
              <a:rPr sz="900" b="1" spc="-10" dirty="0">
                <a:solidFill>
                  <a:srgbClr val="A7291E"/>
                </a:solidFill>
                <a:latin typeface="Times New Roman" panose="02020603050405020304"/>
                <a:cs typeface="Times New Roman" panose="02020603050405020304"/>
              </a:rPr>
              <a:t> </a:t>
            </a:r>
            <a:r>
              <a:rPr sz="900" b="1" dirty="0">
                <a:solidFill>
                  <a:srgbClr val="A7291E"/>
                </a:solidFill>
                <a:latin typeface="Times New Roman" panose="02020603050405020304"/>
                <a:cs typeface="Times New Roman" panose="02020603050405020304"/>
              </a:rPr>
              <a:t>&amp;</a:t>
            </a:r>
            <a:r>
              <a:rPr sz="900" b="1" spc="-5" dirty="0">
                <a:solidFill>
                  <a:srgbClr val="A7291E"/>
                </a:solidFill>
                <a:latin typeface="Times New Roman" panose="02020603050405020304"/>
                <a:cs typeface="Times New Roman" panose="02020603050405020304"/>
              </a:rPr>
              <a:t> </a:t>
            </a:r>
            <a:r>
              <a:rPr sz="900" b="1" spc="-10" dirty="0">
                <a:solidFill>
                  <a:srgbClr val="A7291E"/>
                </a:solidFill>
                <a:latin typeface="Times New Roman" panose="02020603050405020304"/>
                <a:cs typeface="Times New Roman" panose="02020603050405020304"/>
              </a:rPr>
              <a:t>NBA</a:t>
            </a:r>
            <a:r>
              <a:rPr sz="900" b="1" spc="-100" dirty="0">
                <a:solidFill>
                  <a:srgbClr val="A7291E"/>
                </a:solidFill>
                <a:latin typeface="Times New Roman" panose="02020603050405020304"/>
                <a:cs typeface="Times New Roman" panose="02020603050405020304"/>
              </a:rPr>
              <a:t> </a:t>
            </a:r>
            <a:r>
              <a:rPr sz="900" b="1" spc="-10" dirty="0">
                <a:solidFill>
                  <a:srgbClr val="A7291E"/>
                </a:solidFill>
                <a:latin typeface="Times New Roman" panose="02020603050405020304"/>
                <a:cs typeface="Times New Roman" panose="02020603050405020304"/>
              </a:rPr>
              <a:t>Accredited) (Approved</a:t>
            </a:r>
            <a:r>
              <a:rPr sz="900" b="1" spc="5" dirty="0">
                <a:solidFill>
                  <a:srgbClr val="A7291E"/>
                </a:solidFill>
                <a:latin typeface="Times New Roman" panose="02020603050405020304"/>
                <a:cs typeface="Times New Roman" panose="02020603050405020304"/>
              </a:rPr>
              <a:t> </a:t>
            </a:r>
            <a:r>
              <a:rPr sz="900" b="1" dirty="0">
                <a:solidFill>
                  <a:srgbClr val="A7291E"/>
                </a:solidFill>
                <a:latin typeface="Times New Roman" panose="02020603050405020304"/>
                <a:cs typeface="Times New Roman" panose="02020603050405020304"/>
              </a:rPr>
              <a:t>by</a:t>
            </a:r>
            <a:r>
              <a:rPr sz="900" b="1" spc="-40" dirty="0">
                <a:solidFill>
                  <a:srgbClr val="A7291E"/>
                </a:solidFill>
                <a:latin typeface="Times New Roman" panose="02020603050405020304"/>
                <a:cs typeface="Times New Roman" panose="02020603050405020304"/>
              </a:rPr>
              <a:t> </a:t>
            </a:r>
            <a:r>
              <a:rPr sz="900" b="1" dirty="0">
                <a:solidFill>
                  <a:srgbClr val="A7291E"/>
                </a:solidFill>
                <a:latin typeface="Times New Roman" panose="02020603050405020304"/>
                <a:cs typeface="Times New Roman" panose="02020603050405020304"/>
              </a:rPr>
              <a:t>AICTE,</a:t>
            </a:r>
            <a:r>
              <a:rPr sz="900" b="1" spc="15" dirty="0">
                <a:solidFill>
                  <a:srgbClr val="A7291E"/>
                </a:solidFill>
                <a:latin typeface="Times New Roman" panose="02020603050405020304"/>
                <a:cs typeface="Times New Roman" panose="02020603050405020304"/>
              </a:rPr>
              <a:t> </a:t>
            </a:r>
            <a:r>
              <a:rPr sz="900" b="1" spc="-10" dirty="0">
                <a:solidFill>
                  <a:srgbClr val="A7291E"/>
                </a:solidFill>
                <a:latin typeface="Times New Roman" panose="02020603050405020304"/>
                <a:cs typeface="Times New Roman" panose="02020603050405020304"/>
              </a:rPr>
              <a:t>Permanently</a:t>
            </a:r>
            <a:r>
              <a:rPr sz="900" b="1" spc="-40" dirty="0">
                <a:solidFill>
                  <a:srgbClr val="A7291E"/>
                </a:solidFill>
                <a:latin typeface="Times New Roman" panose="02020603050405020304"/>
                <a:cs typeface="Times New Roman" panose="02020603050405020304"/>
              </a:rPr>
              <a:t> </a:t>
            </a:r>
            <a:r>
              <a:rPr sz="900" b="1" spc="-10" dirty="0">
                <a:solidFill>
                  <a:srgbClr val="A7291E"/>
                </a:solidFill>
                <a:latin typeface="Times New Roman" panose="02020603050405020304"/>
                <a:cs typeface="Times New Roman" panose="02020603050405020304"/>
              </a:rPr>
              <a:t>Affiliated</a:t>
            </a:r>
            <a:r>
              <a:rPr sz="900" b="1" spc="10" dirty="0">
                <a:solidFill>
                  <a:srgbClr val="A7291E"/>
                </a:solidFill>
                <a:latin typeface="Times New Roman" panose="02020603050405020304"/>
                <a:cs typeface="Times New Roman" panose="02020603050405020304"/>
              </a:rPr>
              <a:t> </a:t>
            </a:r>
            <a:r>
              <a:rPr sz="900" b="1" dirty="0">
                <a:solidFill>
                  <a:srgbClr val="A7291E"/>
                </a:solidFill>
                <a:latin typeface="Times New Roman" panose="02020603050405020304"/>
                <a:cs typeface="Times New Roman" panose="02020603050405020304"/>
              </a:rPr>
              <a:t>to</a:t>
            </a:r>
            <a:r>
              <a:rPr sz="900" b="1" spc="15" dirty="0">
                <a:solidFill>
                  <a:srgbClr val="A7291E"/>
                </a:solidFill>
                <a:latin typeface="Times New Roman" panose="02020603050405020304"/>
                <a:cs typeface="Times New Roman" panose="02020603050405020304"/>
              </a:rPr>
              <a:t> </a:t>
            </a:r>
            <a:r>
              <a:rPr sz="900" b="1" dirty="0">
                <a:solidFill>
                  <a:srgbClr val="A7291E"/>
                </a:solidFill>
                <a:latin typeface="Times New Roman" panose="02020603050405020304"/>
                <a:cs typeface="Times New Roman" panose="02020603050405020304"/>
              </a:rPr>
              <a:t>JNTU</a:t>
            </a:r>
            <a:r>
              <a:rPr sz="900" b="1" spc="10" dirty="0">
                <a:solidFill>
                  <a:srgbClr val="A7291E"/>
                </a:solidFill>
                <a:latin typeface="Times New Roman" panose="02020603050405020304"/>
                <a:cs typeface="Times New Roman" panose="02020603050405020304"/>
              </a:rPr>
              <a:t> </a:t>
            </a:r>
            <a:r>
              <a:rPr sz="900" b="1" spc="-10" dirty="0">
                <a:solidFill>
                  <a:srgbClr val="A7291E"/>
                </a:solidFill>
                <a:latin typeface="Times New Roman" panose="02020603050405020304"/>
                <a:cs typeface="Times New Roman" panose="02020603050405020304"/>
              </a:rPr>
              <a:t>Hyderabad)</a:t>
            </a:r>
            <a:endParaRPr sz="900">
              <a:latin typeface="Times New Roman" panose="02020603050405020304"/>
              <a:cs typeface="Times New Roman" panose="02020603050405020304"/>
            </a:endParaRPr>
          </a:p>
          <a:p>
            <a:pPr marL="12700">
              <a:lnSpc>
                <a:spcPts val="2010"/>
              </a:lnSpc>
            </a:pPr>
            <a:r>
              <a:rPr sz="1700" b="1" spc="-25" dirty="0">
                <a:solidFill>
                  <a:srgbClr val="3C78D8"/>
                </a:solidFill>
                <a:latin typeface="Times New Roman" panose="02020603050405020304"/>
                <a:cs typeface="Times New Roman" panose="02020603050405020304"/>
              </a:rPr>
              <a:t>KANDLAKOYA,</a:t>
            </a:r>
            <a:r>
              <a:rPr sz="1700" b="1" spc="-10" dirty="0">
                <a:solidFill>
                  <a:srgbClr val="3C78D8"/>
                </a:solidFill>
                <a:latin typeface="Times New Roman" panose="02020603050405020304"/>
                <a:cs typeface="Times New Roman" panose="02020603050405020304"/>
              </a:rPr>
              <a:t> MEDCHAL</a:t>
            </a:r>
            <a:r>
              <a:rPr sz="1700" b="1" spc="-100" dirty="0">
                <a:solidFill>
                  <a:srgbClr val="3C78D8"/>
                </a:solidFill>
                <a:latin typeface="Times New Roman" panose="02020603050405020304"/>
                <a:cs typeface="Times New Roman" panose="02020603050405020304"/>
              </a:rPr>
              <a:t> </a:t>
            </a:r>
            <a:r>
              <a:rPr sz="1700" b="1" dirty="0">
                <a:solidFill>
                  <a:srgbClr val="3C78D8"/>
                </a:solidFill>
                <a:latin typeface="Times New Roman" panose="02020603050405020304"/>
                <a:cs typeface="Times New Roman" panose="02020603050405020304"/>
              </a:rPr>
              <a:t>ROAD,</a:t>
            </a:r>
            <a:r>
              <a:rPr sz="1700" b="1" spc="-5" dirty="0">
                <a:solidFill>
                  <a:srgbClr val="3C78D8"/>
                </a:solidFill>
                <a:latin typeface="Times New Roman" panose="02020603050405020304"/>
                <a:cs typeface="Times New Roman" panose="02020603050405020304"/>
              </a:rPr>
              <a:t> </a:t>
            </a:r>
            <a:r>
              <a:rPr sz="1700" b="1" dirty="0">
                <a:solidFill>
                  <a:srgbClr val="3C78D8"/>
                </a:solidFill>
                <a:latin typeface="Times New Roman" panose="02020603050405020304"/>
                <a:cs typeface="Times New Roman" panose="02020603050405020304"/>
              </a:rPr>
              <a:t>HYDERABAD</a:t>
            </a:r>
            <a:r>
              <a:rPr sz="1700" b="1" spc="-10" dirty="0">
                <a:solidFill>
                  <a:srgbClr val="3C78D8"/>
                </a:solidFill>
                <a:latin typeface="Times New Roman" panose="02020603050405020304"/>
                <a:cs typeface="Times New Roman" panose="02020603050405020304"/>
              </a:rPr>
              <a:t> </a:t>
            </a:r>
            <a:r>
              <a:rPr sz="1700" b="1" dirty="0">
                <a:solidFill>
                  <a:srgbClr val="3C78D8"/>
                </a:solidFill>
                <a:latin typeface="Times New Roman" panose="02020603050405020304"/>
                <a:cs typeface="Times New Roman" panose="02020603050405020304"/>
              </a:rPr>
              <a:t>-</a:t>
            </a:r>
            <a:r>
              <a:rPr sz="1700" b="1" spc="-5" dirty="0">
                <a:solidFill>
                  <a:srgbClr val="3C78D8"/>
                </a:solidFill>
                <a:latin typeface="Times New Roman" panose="02020603050405020304"/>
                <a:cs typeface="Times New Roman" panose="02020603050405020304"/>
              </a:rPr>
              <a:t> </a:t>
            </a:r>
            <a:r>
              <a:rPr sz="1700" b="1" spc="-10" dirty="0">
                <a:solidFill>
                  <a:srgbClr val="3C78D8"/>
                </a:solidFill>
                <a:latin typeface="Times New Roman" panose="02020603050405020304"/>
                <a:cs typeface="Times New Roman" panose="02020603050405020304"/>
              </a:rPr>
              <a:t>501</a:t>
            </a:r>
            <a:r>
              <a:rPr sz="1600" b="1" spc="-10" dirty="0">
                <a:solidFill>
                  <a:srgbClr val="3C78D8"/>
                </a:solidFill>
                <a:latin typeface="Times New Roman" panose="02020603050405020304"/>
                <a:cs typeface="Times New Roman" panose="02020603050405020304"/>
              </a:rPr>
              <a:t>401</a:t>
            </a:r>
            <a:endParaRPr sz="1600">
              <a:latin typeface="Times New Roman" panose="02020603050405020304"/>
              <a:cs typeface="Times New Roman" panose="02020603050405020304"/>
            </a:endParaRPr>
          </a:p>
        </p:txBody>
      </p:sp>
      <p:sp>
        <p:nvSpPr>
          <p:cNvPr id="9" name="object 9"/>
          <p:cNvSpPr txBox="1"/>
          <p:nvPr/>
        </p:nvSpPr>
        <p:spPr>
          <a:xfrm>
            <a:off x="8852129" y="4766036"/>
            <a:ext cx="96520" cy="177800"/>
          </a:xfrm>
          <a:prstGeom prst="rect">
            <a:avLst/>
          </a:prstGeom>
        </p:spPr>
        <p:txBody>
          <a:bodyPr vert="horz" wrap="square" lIns="0" tIns="12700" rIns="0" bIns="0" rtlCol="0">
            <a:spAutoFit/>
          </a:bodyPr>
          <a:lstStyle/>
          <a:p>
            <a:pPr marL="12700">
              <a:lnSpc>
                <a:spcPct val="100000"/>
              </a:lnSpc>
              <a:spcBef>
                <a:spcPts val="100"/>
              </a:spcBef>
            </a:pPr>
            <a:r>
              <a:rPr sz="1000" spc="-50" dirty="0">
                <a:solidFill>
                  <a:srgbClr val="595959"/>
                </a:solidFill>
                <a:latin typeface="Arial MT"/>
                <a:cs typeface="Arial MT"/>
              </a:rPr>
              <a:t>1</a:t>
            </a:r>
            <a:endParaRPr sz="1000">
              <a:latin typeface="Arial MT"/>
              <a:cs typeface="Arial MT"/>
            </a:endParaRPr>
          </a:p>
        </p:txBody>
      </p:sp>
      <p:sp>
        <p:nvSpPr>
          <p:cNvPr id="11" name="Text Box 10"/>
          <p:cNvSpPr txBox="1"/>
          <p:nvPr/>
        </p:nvSpPr>
        <p:spPr>
          <a:xfrm>
            <a:off x="70483" y="3802380"/>
            <a:ext cx="2864485" cy="1515110"/>
          </a:xfrm>
          <a:prstGeom prst="rect">
            <a:avLst/>
          </a:prstGeom>
          <a:noFill/>
        </p:spPr>
        <p:txBody>
          <a:bodyPr wrap="square" rtlCol="0">
            <a:noAutofit/>
          </a:bodyPr>
          <a:lstStyle/>
          <a:p>
            <a:r>
              <a:rPr lang="en-US" altLang="en-US" sz="1500" b="1" dirty="0">
                <a:latin typeface="Times New Roman" panose="02020603050405020304" charset="0"/>
                <a:cs typeface="Times New Roman" panose="02020603050405020304" charset="0"/>
              </a:rPr>
              <a:t>GURRAM GAYATHRI</a:t>
            </a:r>
          </a:p>
          <a:p>
            <a:r>
              <a:rPr lang="en-US" altLang="en-US" sz="1500" b="1" dirty="0">
                <a:latin typeface="Times New Roman" panose="02020603050405020304" charset="0"/>
                <a:cs typeface="Times New Roman" panose="02020603050405020304" charset="0"/>
              </a:rPr>
              <a:t>KAKINADA LASYA PRIYA                                                               EALETI VAMSHI KRISHNA                                                    NALLA ABHILASH</a:t>
            </a:r>
          </a:p>
          <a:p>
            <a:r>
              <a:rPr lang="en-US" altLang="en-US" sz="1500" b="1" dirty="0">
                <a:latin typeface="Times New Roman" panose="02020603050405020304" charset="0"/>
                <a:cs typeface="Times New Roman" panose="02020603050405020304" charset="0"/>
              </a:rPr>
              <a:t>NIKHITHA GUDIVADA</a:t>
            </a:r>
          </a:p>
          <a:p>
            <a:endParaRPr lang="en-US" altLang="en-US" sz="1500" b="1" dirty="0">
              <a:latin typeface="Times New Roman" panose="02020603050405020304" charset="0"/>
              <a:cs typeface="Times New Roman" panose="02020603050405020304" charset="0"/>
            </a:endParaRPr>
          </a:p>
          <a:p>
            <a:endParaRPr lang="en-US" altLang="en-US" sz="1500" b="1"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4852" rIns="0" bIns="0" rtlCol="0">
            <a:spAutoFit/>
          </a:bodyPr>
          <a:lstStyle/>
          <a:p>
            <a:pPr marL="2752725">
              <a:lnSpc>
                <a:spcPct val="100000"/>
              </a:lnSpc>
              <a:spcBef>
                <a:spcPts val="120"/>
              </a:spcBef>
            </a:pPr>
            <a:r>
              <a:rPr sz="3200" spc="-10" dirty="0">
                <a:solidFill>
                  <a:srgbClr val="682523"/>
                </a:solidFill>
              </a:rPr>
              <a:t>CONTENT</a:t>
            </a:r>
            <a:endParaRPr sz="3200"/>
          </a:p>
        </p:txBody>
      </p:sp>
      <p:sp>
        <p:nvSpPr>
          <p:cNvPr id="3" name="object 3"/>
          <p:cNvSpPr txBox="1"/>
          <p:nvPr/>
        </p:nvSpPr>
        <p:spPr>
          <a:xfrm>
            <a:off x="719796" y="1037877"/>
            <a:ext cx="3643629" cy="3752309"/>
          </a:xfrm>
          <a:prstGeom prst="rect">
            <a:avLst/>
          </a:prstGeom>
        </p:spPr>
        <p:txBody>
          <a:bodyPr vert="horz" wrap="square" lIns="0" tIns="134620" rIns="0" bIns="0" rtlCol="0">
            <a:spAutoFit/>
          </a:bodyPr>
          <a:lstStyle/>
          <a:p>
            <a:pPr marL="363855" indent="-351155">
              <a:lnSpc>
                <a:spcPct val="100000"/>
              </a:lnSpc>
              <a:spcBef>
                <a:spcPts val="1060"/>
              </a:spcBef>
              <a:buFont typeface="Arial MT"/>
              <a:buChar char="●"/>
              <a:tabLst>
                <a:tab pos="363855" algn="l"/>
              </a:tabLst>
            </a:pPr>
            <a:r>
              <a:rPr lang="en-IN" sz="1600" dirty="0">
                <a:latin typeface="Times New Roman" panose="02020603050405020304"/>
                <a:cs typeface="Times New Roman" panose="02020603050405020304"/>
              </a:rPr>
              <a:t>ABSTRACT</a:t>
            </a:r>
            <a:endParaRPr sz="1600" dirty="0">
              <a:latin typeface="Times New Roman" panose="02020603050405020304"/>
              <a:cs typeface="Times New Roman" panose="02020603050405020304"/>
            </a:endParaRPr>
          </a:p>
          <a:p>
            <a:pPr marL="363855" indent="-351155">
              <a:lnSpc>
                <a:spcPct val="100000"/>
              </a:lnSpc>
              <a:spcBef>
                <a:spcPts val="960"/>
              </a:spcBef>
              <a:buFont typeface="Arial MT"/>
              <a:buChar char="●"/>
              <a:tabLst>
                <a:tab pos="363855" algn="l"/>
              </a:tabLst>
            </a:pPr>
            <a:r>
              <a:rPr lang="en-IN" altLang="" sz="1600" spc="-10" dirty="0">
                <a:latin typeface="Times New Roman" panose="02020603050405020304"/>
                <a:cs typeface="Times New Roman" panose="02020603050405020304"/>
              </a:rPr>
              <a:t>PROJECT </a:t>
            </a:r>
            <a:r>
              <a:rPr lang="en-IN" sz="1600" spc="-10" dirty="0">
                <a:latin typeface="Times New Roman" panose="02020603050405020304"/>
                <a:cs typeface="Times New Roman" panose="02020603050405020304"/>
              </a:rPr>
              <a:t>OBJECTIVES</a:t>
            </a:r>
          </a:p>
          <a:p>
            <a:pPr marL="363855" indent="-351155">
              <a:lnSpc>
                <a:spcPct val="100000"/>
              </a:lnSpc>
              <a:spcBef>
                <a:spcPts val="960"/>
              </a:spcBef>
              <a:buFont typeface="Arial MT"/>
              <a:buChar char="●"/>
              <a:tabLst>
                <a:tab pos="363855" algn="l"/>
              </a:tabLst>
            </a:pPr>
            <a:r>
              <a:rPr lang="en-IN" sz="1600" spc="-10" dirty="0">
                <a:latin typeface="Times New Roman" panose="02020603050405020304"/>
                <a:cs typeface="Times New Roman" panose="02020603050405020304"/>
              </a:rPr>
              <a:t>PROPOSED METHODOLOGY</a:t>
            </a:r>
            <a:endParaRPr sz="1600" spc="-10" dirty="0">
              <a:latin typeface="Times New Roman" panose="02020603050405020304"/>
              <a:cs typeface="Times New Roman" panose="02020603050405020304"/>
            </a:endParaRPr>
          </a:p>
          <a:p>
            <a:pPr marL="363855" indent="-351155">
              <a:lnSpc>
                <a:spcPct val="100000"/>
              </a:lnSpc>
              <a:spcBef>
                <a:spcPts val="960"/>
              </a:spcBef>
              <a:buFont typeface="Arial MT"/>
              <a:buChar char="●"/>
              <a:tabLst>
                <a:tab pos="363855" algn="l"/>
              </a:tabLst>
            </a:pPr>
            <a:r>
              <a:rPr sz="1600" dirty="0">
                <a:latin typeface="Times New Roman" panose="02020603050405020304"/>
                <a:cs typeface="Times New Roman" panose="02020603050405020304"/>
              </a:rPr>
              <a:t>BLOCK</a:t>
            </a:r>
            <a:r>
              <a:rPr sz="1600" spc="-25" dirty="0">
                <a:latin typeface="Times New Roman" panose="02020603050405020304"/>
                <a:cs typeface="Times New Roman" panose="02020603050405020304"/>
              </a:rPr>
              <a:t> </a:t>
            </a:r>
            <a:r>
              <a:rPr sz="1600" spc="-10" dirty="0">
                <a:latin typeface="Times New Roman" panose="02020603050405020304"/>
                <a:cs typeface="Times New Roman" panose="02020603050405020304"/>
              </a:rPr>
              <a:t>DIAGR</a:t>
            </a:r>
            <a:r>
              <a:rPr lang="en-IN" altLang="" sz="1600" spc="-10" dirty="0">
                <a:latin typeface="Times New Roman" panose="02020603050405020304"/>
                <a:cs typeface="Times New Roman" panose="02020603050405020304"/>
              </a:rPr>
              <a:t>AM</a:t>
            </a:r>
          </a:p>
          <a:p>
            <a:pPr marL="363855" indent="-351155">
              <a:lnSpc>
                <a:spcPct val="100000"/>
              </a:lnSpc>
              <a:spcBef>
                <a:spcPts val="960"/>
              </a:spcBef>
              <a:buFont typeface="Arial MT"/>
              <a:buChar char="●"/>
              <a:tabLst>
                <a:tab pos="363855" algn="l"/>
              </a:tabLst>
            </a:pPr>
            <a:r>
              <a:rPr lang="en-IN" sz="1600" spc="-10" dirty="0">
                <a:latin typeface="Times New Roman" panose="02020603050405020304"/>
                <a:cs typeface="Times New Roman" panose="02020603050405020304"/>
              </a:rPr>
              <a:t>EXISTING SOLUTIONS</a:t>
            </a:r>
          </a:p>
          <a:p>
            <a:pPr marL="363855" indent="-351155">
              <a:lnSpc>
                <a:spcPct val="100000"/>
              </a:lnSpc>
              <a:spcBef>
                <a:spcPts val="960"/>
              </a:spcBef>
              <a:buFont typeface="Arial MT"/>
              <a:buChar char="●"/>
              <a:tabLst>
                <a:tab pos="363855" algn="l"/>
              </a:tabLst>
            </a:pPr>
            <a:r>
              <a:rPr lang="en-IN" sz="1600" spc="-10" dirty="0">
                <a:latin typeface="Times New Roman" panose="02020603050405020304"/>
                <a:cs typeface="Times New Roman" panose="02020603050405020304"/>
              </a:rPr>
              <a:t>EXPLANATION OF PROJECT</a:t>
            </a:r>
            <a:endParaRPr sz="1600" dirty="0">
              <a:latin typeface="Times New Roman" panose="02020603050405020304"/>
              <a:cs typeface="Times New Roman" panose="02020603050405020304"/>
            </a:endParaRPr>
          </a:p>
          <a:p>
            <a:pPr marL="363855" indent="-351155">
              <a:spcBef>
                <a:spcPts val="960"/>
              </a:spcBef>
              <a:buFont typeface="Arial MT"/>
              <a:buChar char="●"/>
              <a:tabLst>
                <a:tab pos="363855" algn="l"/>
              </a:tabLst>
            </a:pPr>
            <a:r>
              <a:rPr sz="1600" spc="-20" dirty="0">
                <a:latin typeface="Times New Roman" panose="02020603050405020304"/>
                <a:cs typeface="Times New Roman" panose="02020603050405020304"/>
              </a:rPr>
              <a:t>ADVANTAGES</a:t>
            </a:r>
            <a:r>
              <a:rPr lang="en-IN" sz="1600" spc="-20" dirty="0">
                <a:latin typeface="Times New Roman" panose="02020603050405020304"/>
                <a:cs typeface="Times New Roman" panose="02020603050405020304"/>
              </a:rPr>
              <a:t> &amp;</a:t>
            </a:r>
            <a:r>
              <a:rPr lang="en-IN" sz="1600" spc="-30" dirty="0">
                <a:latin typeface="Times New Roman" panose="02020603050405020304"/>
                <a:cs typeface="Times New Roman" panose="02020603050405020304"/>
              </a:rPr>
              <a:t>DISADVANTAGES</a:t>
            </a:r>
          </a:p>
          <a:p>
            <a:pPr marL="363855" indent="-351155">
              <a:spcBef>
                <a:spcPts val="960"/>
              </a:spcBef>
              <a:buFont typeface="Arial MT"/>
              <a:buChar char="●"/>
              <a:tabLst>
                <a:tab pos="363855" algn="l"/>
              </a:tabLst>
            </a:pPr>
            <a:r>
              <a:rPr lang="en-IN" sz="1600" spc="-30" dirty="0">
                <a:latin typeface="Times New Roman" panose="02020603050405020304"/>
                <a:cs typeface="Times New Roman" panose="02020603050405020304"/>
              </a:rPr>
              <a:t>FUTURE SCOPE</a:t>
            </a:r>
            <a:r>
              <a:rPr lang="en-IN" sz="1600" spc="-5" dirty="0">
                <a:latin typeface="Times New Roman" panose="02020603050405020304"/>
                <a:cs typeface="Times New Roman" panose="02020603050405020304"/>
              </a:rPr>
              <a:t> </a:t>
            </a:r>
            <a:endParaRPr lang="en-IN" sz="1600" spc="-85" dirty="0">
              <a:latin typeface="Times New Roman" panose="02020603050405020304"/>
              <a:cs typeface="Times New Roman" panose="02020603050405020304"/>
            </a:endParaRPr>
          </a:p>
          <a:p>
            <a:pPr marL="363855" indent="-351155">
              <a:lnSpc>
                <a:spcPct val="100000"/>
              </a:lnSpc>
              <a:spcBef>
                <a:spcPts val="960"/>
              </a:spcBef>
              <a:buFont typeface="Arial MT"/>
              <a:buChar char="●"/>
              <a:tabLst>
                <a:tab pos="363855" algn="l"/>
              </a:tabLst>
            </a:pPr>
            <a:r>
              <a:rPr sz="1600" spc="-10" dirty="0">
                <a:latin typeface="Times New Roman" panose="02020603050405020304"/>
                <a:cs typeface="Times New Roman" panose="02020603050405020304"/>
              </a:rPr>
              <a:t>CONCLUSION</a:t>
            </a:r>
            <a:endParaRPr sz="1600" dirty="0">
              <a:latin typeface="Times New Roman" panose="02020603050405020304"/>
              <a:cs typeface="Times New Roman" panose="02020603050405020304"/>
            </a:endParaRPr>
          </a:p>
          <a:p>
            <a:pPr marL="363855" indent="-351155">
              <a:lnSpc>
                <a:spcPct val="100000"/>
              </a:lnSpc>
              <a:spcBef>
                <a:spcPts val="960"/>
              </a:spcBef>
              <a:buFont typeface="Arial MT"/>
              <a:buChar char="●"/>
              <a:tabLst>
                <a:tab pos="363855" algn="l"/>
              </a:tabLst>
            </a:pPr>
            <a:r>
              <a:rPr sz="1600" spc="-10" dirty="0">
                <a:latin typeface="Times New Roman" panose="02020603050405020304"/>
                <a:cs typeface="Times New Roman" panose="02020603050405020304"/>
              </a:rPr>
              <a:t>REFERENCES</a:t>
            </a:r>
            <a:endParaRPr sz="1600" dirty="0">
              <a:latin typeface="Times New Roman" panose="02020603050405020304"/>
              <a:cs typeface="Times New Roman" panose="02020603050405020304"/>
            </a:endParaRPr>
          </a:p>
        </p:txBody>
      </p:sp>
      <p:sp>
        <p:nvSpPr>
          <p:cNvPr id="4" name="object 4"/>
          <p:cNvSpPr txBox="1"/>
          <p:nvPr/>
        </p:nvSpPr>
        <p:spPr>
          <a:xfrm>
            <a:off x="73025" y="68453"/>
            <a:ext cx="4514215" cy="151130"/>
          </a:xfrm>
          <a:prstGeom prst="rect">
            <a:avLst/>
          </a:prstGeom>
        </p:spPr>
        <p:txBody>
          <a:bodyPr vert="horz" wrap="square" lIns="0" tIns="12700" rIns="0" bIns="0" rtlCol="0">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rPr>
              <a:t>RTL BASED USB PACKET GENERATOR FOR REAL TIME DATA STREAMING </a:t>
            </a:r>
            <a:endParaRPr sz="900">
              <a:latin typeface="Times New Roman" panose="02020603050405020304"/>
              <a:cs typeface="Times New Roman" panose="02020603050405020304"/>
            </a:endParaRPr>
          </a:p>
        </p:txBody>
      </p:sp>
      <p:pic>
        <p:nvPicPr>
          <p:cNvPr id="5" name="object 5"/>
          <p:cNvPicPr/>
          <p:nvPr/>
        </p:nvPicPr>
        <p:blipFill>
          <a:blip r:embed="rId2" cstate="print"/>
          <a:stretch>
            <a:fillRect/>
          </a:stretch>
        </p:blipFill>
        <p:spPr>
          <a:xfrm>
            <a:off x="8494655" y="76200"/>
            <a:ext cx="585899" cy="567840"/>
          </a:xfrm>
          <a:prstGeom prst="rect">
            <a:avLst/>
          </a:prstGeom>
        </p:spPr>
      </p:pic>
      <p:sp>
        <p:nvSpPr>
          <p:cNvPr id="6" name="object 6"/>
          <p:cNvSpPr txBox="1"/>
          <p:nvPr/>
        </p:nvSpPr>
        <p:spPr>
          <a:xfrm>
            <a:off x="73025" y="4901298"/>
            <a:ext cx="944244" cy="138430"/>
          </a:xfrm>
          <a:prstGeom prst="rect">
            <a:avLst/>
          </a:prstGeom>
        </p:spPr>
        <p:txBody>
          <a:bodyPr vert="horz" wrap="square" lIns="0" tIns="0" rIns="0" bIns="0" rtlCol="0">
            <a:spAutoFit/>
          </a:bodyPr>
          <a:lstStyle/>
          <a:p>
            <a:pPr marL="12700">
              <a:lnSpc>
                <a:spcPct val="100000"/>
              </a:lnSpc>
            </a:pPr>
            <a:r>
              <a:rPr sz="900" b="1" spc="-10" dirty="0">
                <a:solidFill>
                  <a:srgbClr val="6AA84F"/>
                </a:solidFill>
                <a:latin typeface="Times New Roman" panose="02020603050405020304"/>
                <a:cs typeface="Times New Roman" panose="02020603050405020304"/>
              </a:rPr>
              <a:t>BATCH</a:t>
            </a:r>
            <a:r>
              <a:rPr sz="900" b="1" spc="-35" dirty="0">
                <a:solidFill>
                  <a:srgbClr val="6AA84F"/>
                </a:solidFill>
                <a:latin typeface="Times New Roman" panose="02020603050405020304"/>
                <a:cs typeface="Times New Roman" panose="02020603050405020304"/>
              </a:rPr>
              <a:t> </a:t>
            </a:r>
            <a:r>
              <a:rPr sz="900" b="1" dirty="0">
                <a:solidFill>
                  <a:srgbClr val="6AA84F"/>
                </a:solidFill>
                <a:latin typeface="Times New Roman" panose="02020603050405020304"/>
                <a:cs typeface="Times New Roman" panose="02020603050405020304"/>
              </a:rPr>
              <a:t>NO:</a:t>
            </a:r>
            <a:r>
              <a:rPr sz="900" b="1" spc="-25" dirty="0">
                <a:solidFill>
                  <a:srgbClr val="6AA84F"/>
                </a:solidFill>
                <a:latin typeface="Times New Roman" panose="02020603050405020304"/>
                <a:cs typeface="Times New Roman" panose="02020603050405020304"/>
              </a:rPr>
              <a:t> </a:t>
            </a:r>
            <a:r>
              <a:rPr lang="en-IN" altLang="en-US" sz="900" b="1" spc="-25" dirty="0">
                <a:solidFill>
                  <a:srgbClr val="6AA84F"/>
                </a:solidFill>
                <a:latin typeface="Times New Roman" panose="02020603050405020304"/>
                <a:cs typeface="Times New Roman" panose="02020603050405020304"/>
              </a:rPr>
              <a:t>DV13</a:t>
            </a:r>
          </a:p>
        </p:txBody>
      </p:sp>
      <p:sp>
        <p:nvSpPr>
          <p:cNvPr id="7" name="object 7"/>
          <p:cNvSpPr txBox="1">
            <a:spLocks noGrp="1"/>
          </p:cNvSpPr>
          <p:nvPr>
            <p:ph type="sldNum" sz="quarter" idx="7"/>
          </p:nvPr>
        </p:nvSpPr>
        <p:spPr>
          <a:prstGeom prst="rect">
            <a:avLst/>
          </a:prstGeom>
        </p:spPr>
        <p:txBody>
          <a:bodyPr vert="horz" wrap="square" lIns="0" tIns="35560" rIns="0" bIns="0" rtlCol="0">
            <a:spAutoFit/>
          </a:bodyPr>
          <a:lstStyle/>
          <a:p>
            <a:pPr marL="108585">
              <a:lnSpc>
                <a:spcPct val="100000"/>
              </a:lnSpc>
              <a:spcBef>
                <a:spcPts val="280"/>
              </a:spcBef>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675" y="292415"/>
            <a:ext cx="7740650" cy="830997"/>
          </a:xfrm>
        </p:spPr>
        <p:txBody>
          <a:bodyPr/>
          <a:lstStyle/>
          <a:p>
            <a:pPr algn="ctr"/>
            <a:br>
              <a:rPr lang="en-US" dirty="0"/>
            </a:br>
            <a:r>
              <a:rPr lang="en-US" dirty="0"/>
              <a:t>ABSTRACT</a:t>
            </a:r>
            <a:endParaRPr lang="en-IN" altLang="en-US" dirty="0"/>
          </a:p>
        </p:txBody>
      </p:sp>
      <p:sp>
        <p:nvSpPr>
          <p:cNvPr id="3" name="Text Placeholder 2"/>
          <p:cNvSpPr>
            <a:spLocks noGrp="1"/>
          </p:cNvSpPr>
          <p:nvPr>
            <p:ph type="body" idx="1"/>
          </p:nvPr>
        </p:nvSpPr>
        <p:spPr>
          <a:xfrm>
            <a:off x="609600" y="1186802"/>
            <a:ext cx="8141960" cy="2708434"/>
          </a:xfrm>
        </p:spPr>
        <p:txBody>
          <a:bodyPr/>
          <a:lstStyle/>
          <a:p>
            <a:r>
              <a:rPr lang="en-US" dirty="0"/>
              <a:t> </a:t>
            </a:r>
            <a:endParaRPr lang="en-IN" dirty="0"/>
          </a:p>
          <a:p>
            <a:r>
              <a:rPr lang="en-IN" dirty="0"/>
              <a:t>This project focuses on the development of a Register Transfer Level (RTL)-based USB packet generator designed for real-time data streaming applications. The packet generator is implemented using Verilog HDL and adheres to the USB 2.0 protocol, supporting the generation of token, data, and handshake packets. Its primary objective is to simulate and test USB-based communication systems by providing a reliable source of protocol-compliant data traffic.</a:t>
            </a:r>
          </a:p>
          <a:p>
            <a:r>
              <a:rPr lang="en-IN" dirty="0"/>
              <a:t>The design incorporates configurable features, including adjustable packet size, packet type selection, and transmission intervals. These parameters can be set dynamically through a simple register interface, allowing real-time control and adaptability during operation. The packet generator is optimized for continuous, high-throughput streaming and deterministic timing </a:t>
            </a:r>
            <a:r>
              <a:rPr lang="en-IN" dirty="0" err="1"/>
              <a:t>behavior</a:t>
            </a:r>
            <a:r>
              <a:rPr lang="en-IN" dirty="0"/>
              <a:t>, making it ideal for embedded system validation and hardware-in-the-loop testing environments.</a:t>
            </a:r>
            <a:endParaRPr lang="en-US" dirty="0"/>
          </a:p>
        </p:txBody>
      </p:sp>
      <p:sp>
        <p:nvSpPr>
          <p:cNvPr id="4" name="Text Box 3"/>
          <p:cNvSpPr txBox="1"/>
          <p:nvPr/>
        </p:nvSpPr>
        <p:spPr>
          <a:xfrm>
            <a:off x="76200" y="4857750"/>
            <a:ext cx="3035935" cy="264160"/>
          </a:xfrm>
          <a:prstGeom prst="rect">
            <a:avLst/>
          </a:prstGeom>
          <a:noFill/>
        </p:spPr>
        <p:txBody>
          <a:bodyPr wrap="square" rtlCol="0" anchor="t">
            <a:noAutofit/>
          </a:bodyPr>
          <a:lstStyle/>
          <a:p>
            <a:r>
              <a:rPr sz="900" b="1" spc="-10" dirty="0">
                <a:solidFill>
                  <a:srgbClr val="6AA84F"/>
                </a:solidFill>
                <a:latin typeface="Times New Roman" panose="02020603050405020304"/>
                <a:cs typeface="Times New Roman" panose="02020603050405020304"/>
                <a:sym typeface="+mn-ea"/>
              </a:rPr>
              <a:t>BATCH</a:t>
            </a:r>
            <a:r>
              <a:rPr sz="900" b="1" spc="-35" dirty="0">
                <a:solidFill>
                  <a:srgbClr val="6AA84F"/>
                </a:solidFill>
                <a:latin typeface="Times New Roman" panose="02020603050405020304"/>
                <a:cs typeface="Times New Roman" panose="02020603050405020304"/>
                <a:sym typeface="+mn-ea"/>
              </a:rPr>
              <a:t> </a:t>
            </a:r>
            <a:r>
              <a:rPr sz="900" b="1" dirty="0">
                <a:solidFill>
                  <a:srgbClr val="6AA84F"/>
                </a:solidFill>
                <a:latin typeface="Times New Roman" panose="02020603050405020304"/>
                <a:cs typeface="Times New Roman" panose="02020603050405020304"/>
                <a:sym typeface="+mn-ea"/>
              </a:rPr>
              <a:t>NO:</a:t>
            </a:r>
            <a:r>
              <a:rPr sz="900" b="1" spc="-25" dirty="0">
                <a:solidFill>
                  <a:srgbClr val="6AA84F"/>
                </a:solidFill>
                <a:latin typeface="Times New Roman" panose="02020603050405020304"/>
                <a:cs typeface="Times New Roman" panose="02020603050405020304"/>
                <a:sym typeface="+mn-ea"/>
              </a:rPr>
              <a:t> </a:t>
            </a:r>
            <a:r>
              <a:rPr lang="en-IN" altLang="en-US" sz="900" b="1" spc="-25" dirty="0">
                <a:solidFill>
                  <a:srgbClr val="6AA84F"/>
                </a:solidFill>
                <a:latin typeface="Times New Roman" panose="02020603050405020304"/>
                <a:cs typeface="Times New Roman" panose="02020603050405020304"/>
                <a:sym typeface="+mn-ea"/>
              </a:rPr>
              <a:t>DV13</a:t>
            </a:r>
          </a:p>
        </p:txBody>
      </p:sp>
      <p:sp>
        <p:nvSpPr>
          <p:cNvPr id="5" name="Text Box 4"/>
          <p:cNvSpPr txBox="1"/>
          <p:nvPr/>
        </p:nvSpPr>
        <p:spPr>
          <a:xfrm>
            <a:off x="76200" y="19050"/>
            <a:ext cx="4572000" cy="229870"/>
          </a:xfrm>
          <a:prstGeom prst="rect">
            <a:avLst/>
          </a:prstGeom>
          <a:noFill/>
        </p:spPr>
        <p:txBody>
          <a:bodyPr wrap="square" rtlCol="0" anchor="t">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01675" y="388921"/>
            <a:ext cx="7740650" cy="743082"/>
          </a:xfrm>
          <a:prstGeom prst="rect">
            <a:avLst/>
          </a:prstGeom>
        </p:spPr>
        <p:txBody>
          <a:bodyPr vert="horz" wrap="square" lIns="0" tIns="286230" rIns="0" bIns="0" rtlCol="0">
            <a:spAutoFit/>
          </a:bodyPr>
          <a:lstStyle/>
          <a:p>
            <a:pPr marL="12700" algn="ctr">
              <a:lnSpc>
                <a:spcPct val="100000"/>
              </a:lnSpc>
              <a:spcBef>
                <a:spcPts val="100"/>
              </a:spcBef>
            </a:pPr>
            <a:r>
              <a:rPr sz="2900" b="0" spc="-10" dirty="0">
                <a:solidFill>
                  <a:srgbClr val="C00000"/>
                </a:solidFill>
                <a:latin typeface="Times New Roman" panose="02020603050405020304"/>
                <a:cs typeface="Times New Roman" panose="02020603050405020304"/>
              </a:rPr>
              <a:t>OBJECTIVES</a:t>
            </a:r>
            <a:endParaRPr sz="2900" dirty="0">
              <a:solidFill>
                <a:srgbClr val="C00000"/>
              </a:solidFill>
              <a:latin typeface="Times New Roman" panose="02020603050405020304"/>
              <a:cs typeface="Times New Roman" panose="02020603050405020304"/>
            </a:endParaRPr>
          </a:p>
        </p:txBody>
      </p:sp>
      <p:sp>
        <p:nvSpPr>
          <p:cNvPr id="4" name="object 4"/>
          <p:cNvSpPr txBox="1"/>
          <p:nvPr/>
        </p:nvSpPr>
        <p:spPr>
          <a:xfrm>
            <a:off x="750493" y="1410345"/>
            <a:ext cx="7766050" cy="3205814"/>
          </a:xfrm>
          <a:prstGeom prst="rect">
            <a:avLst/>
          </a:prstGeom>
        </p:spPr>
        <p:txBody>
          <a:bodyPr vert="horz" wrap="square" lIns="0" tIns="12700" rIns="0" bIns="0" rtlCol="0">
            <a:spAutoFit/>
          </a:bodyPr>
          <a:lstStyle/>
          <a:p>
            <a:pPr marL="342900" indent="-342900">
              <a:lnSpc>
                <a:spcPct val="150000"/>
              </a:lnSpc>
              <a:buFont typeface="+mj-lt"/>
              <a:buAutoNum type="arabicPeriod"/>
            </a:pPr>
            <a:r>
              <a:rPr lang="en-US" sz="1400" dirty="0">
                <a:latin typeface="Times New Roman" pitchFamily="18" charset="0"/>
                <a:cs typeface="Times New Roman" pitchFamily="18" charset="0"/>
              </a:rPr>
              <a:t>To design a hardware-based USB packet generator using Verilog HDL at the Register Transfer Level (RTL) for real-time data transmission.</a:t>
            </a:r>
          </a:p>
          <a:p>
            <a:pPr marL="342900" indent="-342900">
              <a:lnSpc>
                <a:spcPct val="150000"/>
              </a:lnSpc>
              <a:buFont typeface="+mj-lt"/>
              <a:buAutoNum type="arabicPeriod"/>
            </a:pPr>
            <a:r>
              <a:rPr lang="en-US" sz="1400" dirty="0">
                <a:latin typeface="Times New Roman" pitchFamily="18" charset="0"/>
                <a:cs typeface="Times New Roman" pitchFamily="18" charset="0"/>
              </a:rPr>
              <a:t>To support multiple USB packet types, including:</a:t>
            </a:r>
          </a:p>
          <a:p>
            <a:pPr marL="285750" indent="-285750">
              <a:lnSpc>
                <a:spcPct val="150000"/>
              </a:lnSpc>
              <a:buFont typeface="Arial" pitchFamily="34" charset="0"/>
              <a:buChar char="•"/>
            </a:pPr>
            <a:r>
              <a:rPr lang="en-US" sz="1400" dirty="0">
                <a:latin typeface="Times New Roman" pitchFamily="18" charset="0"/>
                <a:cs typeface="Times New Roman" pitchFamily="18" charset="0"/>
              </a:rPr>
              <a:t> Token packets (IN, OUT, SOF)</a:t>
            </a:r>
          </a:p>
          <a:p>
            <a:pPr marL="285750" indent="-285750">
              <a:lnSpc>
                <a:spcPct val="150000"/>
              </a:lnSpc>
              <a:buFont typeface="Arial" pitchFamily="34" charset="0"/>
              <a:buChar char="•"/>
            </a:pPr>
            <a:r>
              <a:rPr lang="en-US" sz="1400" dirty="0">
                <a:latin typeface="Times New Roman" pitchFamily="18" charset="0"/>
                <a:cs typeface="Times New Roman" pitchFamily="18" charset="0"/>
              </a:rPr>
              <a:t> Data packets (DATA0, DATA1)</a:t>
            </a:r>
          </a:p>
          <a:p>
            <a:pPr marL="285750" indent="-285750">
              <a:lnSpc>
                <a:spcPct val="150000"/>
              </a:lnSpc>
              <a:buFont typeface="Arial" pitchFamily="34" charset="0"/>
              <a:buChar char="•"/>
            </a:pPr>
            <a:r>
              <a:rPr lang="en-US" sz="1400" dirty="0">
                <a:latin typeface="Times New Roman" pitchFamily="18" charset="0"/>
                <a:cs typeface="Times New Roman" pitchFamily="18" charset="0"/>
              </a:rPr>
              <a:t> Handshake packets (ACK, NAK, STALL)</a:t>
            </a:r>
          </a:p>
          <a:p>
            <a:pPr>
              <a:lnSpc>
                <a:spcPct val="150000"/>
              </a:lnSpc>
            </a:pPr>
            <a:r>
              <a:rPr lang="en-US" sz="1400" dirty="0">
                <a:latin typeface="Times New Roman" pitchFamily="18" charset="0"/>
                <a:cs typeface="Times New Roman" pitchFamily="18" charset="0"/>
              </a:rPr>
              <a:t>3.    To implement essential USB protocol features in RTL such as:</a:t>
            </a:r>
          </a:p>
          <a:p>
            <a:pPr marL="285750" indent="-285750">
              <a:lnSpc>
                <a:spcPct val="150000"/>
              </a:lnSpc>
              <a:buFont typeface="Arial" pitchFamily="34" charset="0"/>
              <a:buChar char="•"/>
            </a:pPr>
            <a:r>
              <a:rPr lang="en-US" sz="1400" dirty="0">
                <a:latin typeface="Times New Roman" pitchFamily="18" charset="0"/>
                <a:cs typeface="Times New Roman" pitchFamily="18" charset="0"/>
              </a:rPr>
              <a:t> CRC5 and CRC16 generation for error detection.</a:t>
            </a:r>
          </a:p>
          <a:p>
            <a:pPr marL="285750" indent="-285750">
              <a:lnSpc>
                <a:spcPct val="150000"/>
              </a:lnSpc>
              <a:buFont typeface="Arial" pitchFamily="34" charset="0"/>
              <a:buChar char="•"/>
            </a:pPr>
            <a:r>
              <a:rPr lang="en-US" sz="1400" dirty="0">
                <a:latin typeface="Times New Roman" pitchFamily="18" charset="0"/>
                <a:cs typeface="Times New Roman" pitchFamily="18" charset="0"/>
              </a:rPr>
              <a:t> Bit stuffing to maintain data integrity during transmission.</a:t>
            </a:r>
          </a:p>
          <a:p>
            <a:pPr marL="285750" indent="-285750">
              <a:lnSpc>
                <a:spcPct val="150000"/>
              </a:lnSpc>
              <a:buFont typeface="Arial" pitchFamily="34" charset="0"/>
              <a:buChar char="•"/>
            </a:pPr>
            <a:r>
              <a:rPr lang="en-US" sz="1400" dirty="0">
                <a:latin typeface="Times New Roman" pitchFamily="18" charset="0"/>
                <a:cs typeface="Times New Roman" pitchFamily="18" charset="0"/>
              </a:rPr>
              <a:t>  NRZI encoding for signal encoding on the USB data lines.</a:t>
            </a:r>
          </a:p>
        </p:txBody>
      </p:sp>
      <p:sp>
        <p:nvSpPr>
          <p:cNvPr id="8" name="object 8"/>
          <p:cNvSpPr txBox="1"/>
          <p:nvPr/>
        </p:nvSpPr>
        <p:spPr>
          <a:xfrm>
            <a:off x="73025" y="68453"/>
            <a:ext cx="4514215" cy="302260"/>
          </a:xfrm>
          <a:prstGeom prst="rect">
            <a:avLst/>
          </a:prstGeom>
        </p:spPr>
        <p:txBody>
          <a:bodyPr vert="horz" wrap="square" lIns="0" tIns="12700" rIns="0" bIns="0" rtlCol="0">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sz="900">
              <a:latin typeface="Times New Roman" panose="02020603050405020304"/>
              <a:cs typeface="Times New Roman" panose="02020603050405020304"/>
            </a:endParaRPr>
          </a:p>
        </p:txBody>
      </p:sp>
      <p:sp>
        <p:nvSpPr>
          <p:cNvPr id="9" name="object 9"/>
          <p:cNvSpPr txBox="1"/>
          <p:nvPr/>
        </p:nvSpPr>
        <p:spPr>
          <a:xfrm>
            <a:off x="73025" y="4901298"/>
            <a:ext cx="944244" cy="138430"/>
          </a:xfrm>
          <a:prstGeom prst="rect">
            <a:avLst/>
          </a:prstGeom>
        </p:spPr>
        <p:txBody>
          <a:bodyPr vert="horz" wrap="square" lIns="0" tIns="0" rIns="0" bIns="0" rtlCol="0">
            <a:spAutoFit/>
          </a:bodyPr>
          <a:lstStyle/>
          <a:p>
            <a:pPr marL="12700">
              <a:lnSpc>
                <a:spcPct val="100000"/>
              </a:lnSpc>
            </a:pPr>
            <a:r>
              <a:rPr sz="900" b="1" spc="-10" dirty="0">
                <a:solidFill>
                  <a:srgbClr val="6AA84F"/>
                </a:solidFill>
                <a:latin typeface="Times New Roman" panose="02020603050405020304"/>
                <a:cs typeface="Times New Roman" panose="02020603050405020304"/>
              </a:rPr>
              <a:t>BATCH</a:t>
            </a:r>
            <a:r>
              <a:rPr sz="900" b="1" spc="-35" dirty="0">
                <a:solidFill>
                  <a:srgbClr val="6AA84F"/>
                </a:solidFill>
                <a:latin typeface="Times New Roman" panose="02020603050405020304"/>
                <a:cs typeface="Times New Roman" panose="02020603050405020304"/>
              </a:rPr>
              <a:t> </a:t>
            </a:r>
            <a:r>
              <a:rPr sz="900" b="1" dirty="0">
                <a:solidFill>
                  <a:srgbClr val="6AA84F"/>
                </a:solidFill>
                <a:latin typeface="Times New Roman" panose="02020603050405020304"/>
                <a:cs typeface="Times New Roman" panose="02020603050405020304"/>
              </a:rPr>
              <a:t>NO:</a:t>
            </a:r>
            <a:r>
              <a:rPr sz="900" b="1" spc="-25" dirty="0">
                <a:solidFill>
                  <a:srgbClr val="6AA84F"/>
                </a:solidFill>
                <a:latin typeface="Times New Roman" panose="02020603050405020304"/>
                <a:cs typeface="Times New Roman" panose="02020603050405020304"/>
              </a:rPr>
              <a:t> </a:t>
            </a:r>
            <a:r>
              <a:rPr lang="en-IN" altLang="en-US" sz="900" b="1" spc="-25" dirty="0">
                <a:solidFill>
                  <a:srgbClr val="6AA84F"/>
                </a:solidFill>
                <a:latin typeface="Times New Roman" panose="02020603050405020304"/>
                <a:cs typeface="Times New Roman" panose="02020603050405020304"/>
              </a:rPr>
              <a:t>DV13</a:t>
            </a:r>
          </a:p>
        </p:txBody>
      </p:sp>
      <p:sp>
        <p:nvSpPr>
          <p:cNvPr id="10" name="object 10"/>
          <p:cNvSpPr txBox="1">
            <a:spLocks noGrp="1"/>
          </p:cNvSpPr>
          <p:nvPr>
            <p:ph type="sldNum" sz="quarter" idx="7"/>
          </p:nvPr>
        </p:nvSpPr>
        <p:spPr>
          <a:prstGeom prst="rect">
            <a:avLst/>
          </a:prstGeom>
        </p:spPr>
        <p:txBody>
          <a:bodyPr vert="horz" wrap="square" lIns="0" tIns="35560" rIns="0" bIns="0" rtlCol="0">
            <a:spAutoFit/>
          </a:bodyPr>
          <a:lstStyle/>
          <a:p>
            <a:pPr marL="108585">
              <a:lnSpc>
                <a:spcPct val="100000"/>
              </a:lnSpc>
              <a:spcBef>
                <a:spcPts val="280"/>
              </a:spcBef>
            </a:pPr>
            <a:fld id="{81D60167-4931-47E6-BA6A-407CBD079E47}" type="slidenum">
              <a:rPr spc="-50" dirty="0"/>
              <a:t>4</a:t>
            </a:fld>
            <a:endParaRPr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59273" y="401334"/>
            <a:ext cx="2719705" cy="340995"/>
          </a:xfrm>
          <a:prstGeom prst="rect">
            <a:avLst/>
          </a:prstGeom>
        </p:spPr>
        <p:txBody>
          <a:bodyPr vert="horz" wrap="square" lIns="0" tIns="15240" rIns="0" bIns="0" rtlCol="0">
            <a:spAutoFit/>
          </a:bodyPr>
          <a:lstStyle/>
          <a:p>
            <a:pPr marL="12700">
              <a:lnSpc>
                <a:spcPct val="100000"/>
              </a:lnSpc>
              <a:spcBef>
                <a:spcPts val="120"/>
              </a:spcBef>
            </a:pPr>
            <a:r>
              <a:rPr sz="2050" dirty="0">
                <a:solidFill>
                  <a:srgbClr val="934000"/>
                </a:solidFill>
              </a:rPr>
              <a:t>PROPOSED</a:t>
            </a:r>
            <a:r>
              <a:rPr sz="2050" spc="75" dirty="0">
                <a:solidFill>
                  <a:srgbClr val="934000"/>
                </a:solidFill>
              </a:rPr>
              <a:t> </a:t>
            </a:r>
            <a:r>
              <a:rPr sz="2050" spc="-10" dirty="0">
                <a:solidFill>
                  <a:srgbClr val="934000"/>
                </a:solidFill>
              </a:rPr>
              <a:t>METHOD</a:t>
            </a:r>
            <a:endParaRPr sz="2050"/>
          </a:p>
        </p:txBody>
      </p:sp>
      <p:pic>
        <p:nvPicPr>
          <p:cNvPr id="4" name="object 4"/>
          <p:cNvPicPr/>
          <p:nvPr/>
        </p:nvPicPr>
        <p:blipFill>
          <a:blip r:embed="rId3" cstate="print"/>
          <a:stretch>
            <a:fillRect/>
          </a:stretch>
        </p:blipFill>
        <p:spPr>
          <a:xfrm>
            <a:off x="8418055" y="63650"/>
            <a:ext cx="585899" cy="567840"/>
          </a:xfrm>
          <a:prstGeom prst="rect">
            <a:avLst/>
          </a:prstGeom>
        </p:spPr>
      </p:pic>
      <p:sp>
        <p:nvSpPr>
          <p:cNvPr id="5" name="object 5"/>
          <p:cNvSpPr txBox="1"/>
          <p:nvPr/>
        </p:nvSpPr>
        <p:spPr>
          <a:xfrm>
            <a:off x="73025" y="68580"/>
            <a:ext cx="4514215" cy="241935"/>
          </a:xfrm>
          <a:prstGeom prst="rect">
            <a:avLst/>
          </a:prstGeom>
        </p:spPr>
        <p:txBody>
          <a:bodyPr vert="horz" wrap="square" lIns="0" tIns="12700" rIns="0" bIns="0" rtlCol="0">
            <a:no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sz="900">
              <a:latin typeface="Times New Roman" panose="02020603050405020304"/>
              <a:cs typeface="Times New Roman" panose="02020603050405020304"/>
            </a:endParaRPr>
          </a:p>
        </p:txBody>
      </p:sp>
      <p:sp>
        <p:nvSpPr>
          <p:cNvPr id="6" name="object 6"/>
          <p:cNvSpPr txBox="1"/>
          <p:nvPr/>
        </p:nvSpPr>
        <p:spPr>
          <a:xfrm>
            <a:off x="73025" y="4901298"/>
            <a:ext cx="944244" cy="138430"/>
          </a:xfrm>
          <a:prstGeom prst="rect">
            <a:avLst/>
          </a:prstGeom>
        </p:spPr>
        <p:txBody>
          <a:bodyPr vert="horz" wrap="square" lIns="0" tIns="0" rIns="0" bIns="0" rtlCol="0">
            <a:spAutoFit/>
          </a:bodyPr>
          <a:lstStyle/>
          <a:p>
            <a:pPr marL="12700">
              <a:lnSpc>
                <a:spcPct val="100000"/>
              </a:lnSpc>
            </a:pPr>
            <a:r>
              <a:rPr sz="900" b="1" spc="-10" dirty="0">
                <a:solidFill>
                  <a:srgbClr val="6AA84F"/>
                </a:solidFill>
                <a:latin typeface="Times New Roman" panose="02020603050405020304"/>
                <a:cs typeface="Times New Roman" panose="02020603050405020304"/>
              </a:rPr>
              <a:t>BATCH</a:t>
            </a:r>
            <a:r>
              <a:rPr sz="900" b="1" spc="-35" dirty="0">
                <a:solidFill>
                  <a:srgbClr val="6AA84F"/>
                </a:solidFill>
                <a:latin typeface="Times New Roman" panose="02020603050405020304"/>
                <a:cs typeface="Times New Roman" panose="02020603050405020304"/>
              </a:rPr>
              <a:t> </a:t>
            </a:r>
            <a:r>
              <a:rPr sz="900" b="1" dirty="0">
                <a:solidFill>
                  <a:srgbClr val="6AA84F"/>
                </a:solidFill>
                <a:latin typeface="Times New Roman" panose="02020603050405020304"/>
                <a:cs typeface="Times New Roman" panose="02020603050405020304"/>
              </a:rPr>
              <a:t>NO:</a:t>
            </a:r>
            <a:r>
              <a:rPr sz="900" b="1" spc="-25" dirty="0">
                <a:solidFill>
                  <a:srgbClr val="6AA84F"/>
                </a:solidFill>
                <a:latin typeface="Times New Roman" panose="02020603050405020304"/>
                <a:cs typeface="Times New Roman" panose="02020603050405020304"/>
              </a:rPr>
              <a:t> </a:t>
            </a:r>
            <a:r>
              <a:rPr lang="en-IN" altLang="en-US" sz="900" b="1" spc="-25" dirty="0">
                <a:solidFill>
                  <a:srgbClr val="6AA84F"/>
                </a:solidFill>
                <a:latin typeface="Times New Roman" panose="02020603050405020304"/>
                <a:cs typeface="Times New Roman" panose="02020603050405020304"/>
              </a:rPr>
              <a:t>DV13</a:t>
            </a:r>
          </a:p>
        </p:txBody>
      </p:sp>
      <p:sp>
        <p:nvSpPr>
          <p:cNvPr id="7" name="object 7"/>
          <p:cNvSpPr txBox="1">
            <a:spLocks noGrp="1"/>
          </p:cNvSpPr>
          <p:nvPr>
            <p:ph type="sldNum" sz="quarter" idx="7"/>
          </p:nvPr>
        </p:nvSpPr>
        <p:spPr>
          <a:prstGeom prst="rect">
            <a:avLst/>
          </a:prstGeom>
        </p:spPr>
        <p:txBody>
          <a:bodyPr vert="horz" wrap="square" lIns="0" tIns="35560" rIns="0" bIns="0" rtlCol="0">
            <a:spAutoFit/>
          </a:bodyPr>
          <a:lstStyle/>
          <a:p>
            <a:pPr marL="108585">
              <a:lnSpc>
                <a:spcPct val="100000"/>
              </a:lnSpc>
              <a:spcBef>
                <a:spcPts val="280"/>
              </a:spcBef>
            </a:pPr>
            <a:fld id="{81D60167-4931-47E6-BA6A-407CBD079E47}" type="slidenum">
              <a:rPr spc="-50" dirty="0"/>
              <a:t>5</a:t>
            </a:fld>
            <a:endParaRPr spc="-50" dirty="0"/>
          </a:p>
        </p:txBody>
      </p:sp>
      <p:sp>
        <p:nvSpPr>
          <p:cNvPr id="10" name="TextBox 9">
            <a:extLst>
              <a:ext uri="{FF2B5EF4-FFF2-40B4-BE49-F238E27FC236}">
                <a16:creationId xmlns:a16="http://schemas.microsoft.com/office/drawing/2014/main" id="{CA063D93-3D9C-7B22-90DB-D9E8244AD5F0}"/>
              </a:ext>
            </a:extLst>
          </p:cNvPr>
          <p:cNvSpPr txBox="1"/>
          <p:nvPr/>
        </p:nvSpPr>
        <p:spPr>
          <a:xfrm>
            <a:off x="685800" y="742329"/>
            <a:ext cx="7543799" cy="3970318"/>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We used Verilog, a hardware design language, to build the USB packet generator. It helps  describe exactly how each part of the system should work, just like writing code but for electronic circuits.</a:t>
            </a:r>
          </a:p>
          <a:p>
            <a:r>
              <a:rPr lang="en-US" sz="1400" b="1" dirty="0">
                <a:latin typeface="Times New Roman" panose="02020603050405020304" pitchFamily="18" charset="0"/>
                <a:cs typeface="Times New Roman" panose="02020603050405020304" pitchFamily="18" charset="0"/>
              </a:rPr>
              <a:t>How It Works :</a:t>
            </a:r>
          </a:p>
          <a:p>
            <a:r>
              <a:rPr lang="en-US" sz="1400" dirty="0">
                <a:latin typeface="Times New Roman" panose="02020603050405020304" pitchFamily="18" charset="0"/>
                <a:cs typeface="Times New Roman" panose="02020603050405020304" pitchFamily="18" charset="0"/>
              </a:rPr>
              <a:t>A special control method called a Finite State Machine (FSM) is used to manage </a:t>
            </a:r>
            <a:r>
              <a:rPr lang="en-US" sz="1400" dirty="0" err="1">
                <a:latin typeface="Times New Roman" panose="02020603050405020304" pitchFamily="18" charset="0"/>
                <a:cs typeface="Times New Roman" panose="02020603050405020304" pitchFamily="18" charset="0"/>
              </a:rPr>
              <a:t>everything.It</a:t>
            </a:r>
            <a:r>
              <a:rPr lang="en-US" sz="1400" dirty="0">
                <a:latin typeface="Times New Roman" panose="02020603050405020304" pitchFamily="18" charset="0"/>
                <a:cs typeface="Times New Roman" panose="02020603050405020304" pitchFamily="18" charset="0"/>
              </a:rPr>
              <a:t> acts like a traffic controller that tells the system what to do next while forming and sending USB packets.</a:t>
            </a:r>
          </a:p>
          <a:p>
            <a:r>
              <a:rPr lang="en-US" sz="1400" b="1" dirty="0">
                <a:latin typeface="Times New Roman" panose="02020603050405020304" pitchFamily="18" charset="0"/>
                <a:cs typeface="Times New Roman" panose="02020603050405020304" pitchFamily="18" charset="0"/>
              </a:rPr>
              <a:t>Making the USB Packets:</a:t>
            </a:r>
          </a:p>
          <a:p>
            <a:r>
              <a:rPr lang="en-US" sz="1400" dirty="0">
                <a:latin typeface="Times New Roman" panose="02020603050405020304" pitchFamily="18" charset="0"/>
                <a:cs typeface="Times New Roman" panose="02020603050405020304" pitchFamily="18" charset="0"/>
              </a:rPr>
              <a:t>Our design creates different types of packets used in USB communication:</a:t>
            </a:r>
          </a:p>
          <a:p>
            <a:r>
              <a:rPr lang="en-US" sz="1400" dirty="0">
                <a:latin typeface="Times New Roman" panose="02020603050405020304" pitchFamily="18" charset="0"/>
                <a:cs typeface="Times New Roman" panose="02020603050405020304" pitchFamily="18" charset="0"/>
              </a:rPr>
              <a:t>Token packets like IN, OUT, and SOF (Start of Frame)</a:t>
            </a:r>
          </a:p>
          <a:p>
            <a:r>
              <a:rPr lang="en-US" sz="1400" dirty="0">
                <a:latin typeface="Times New Roman" panose="02020603050405020304" pitchFamily="18" charset="0"/>
                <a:cs typeface="Times New Roman" panose="02020603050405020304" pitchFamily="18" charset="0"/>
              </a:rPr>
              <a:t>Data packets to carry information</a:t>
            </a:r>
          </a:p>
          <a:p>
            <a:r>
              <a:rPr lang="en-US" sz="1400" dirty="0">
                <a:latin typeface="Times New Roman" panose="02020603050405020304" pitchFamily="18" charset="0"/>
                <a:cs typeface="Times New Roman" panose="02020603050405020304" pitchFamily="18" charset="0"/>
              </a:rPr>
              <a:t>Handshake packets to confirm successful data transfer</a:t>
            </a:r>
          </a:p>
          <a:p>
            <a:r>
              <a:rPr lang="en-US" sz="1400" b="1" dirty="0">
                <a:latin typeface="Times New Roman" panose="02020603050405020304" pitchFamily="18" charset="0"/>
                <a:cs typeface="Times New Roman" panose="02020603050405020304" pitchFamily="18" charset="0"/>
              </a:rPr>
              <a:t>Error checking:</a:t>
            </a:r>
          </a:p>
          <a:p>
            <a:r>
              <a:rPr lang="en-US" sz="1400" dirty="0">
                <a:latin typeface="Times New Roman" panose="02020603050405020304" pitchFamily="18" charset="0"/>
                <a:cs typeface="Times New Roman" panose="02020603050405020304" pitchFamily="18" charset="0"/>
              </a:rPr>
              <a:t>CRC5 for token packetsCRC16 for data packets</a:t>
            </a:r>
          </a:p>
          <a:p>
            <a:r>
              <a:rPr lang="en-US" sz="1400" b="1" dirty="0">
                <a:latin typeface="Times New Roman" panose="02020603050405020304" pitchFamily="18" charset="0"/>
                <a:cs typeface="Times New Roman" panose="02020603050405020304" pitchFamily="18" charset="0"/>
              </a:rPr>
              <a:t>Getting the Data USB-Ready:</a:t>
            </a:r>
          </a:p>
          <a:p>
            <a:r>
              <a:rPr lang="en-US" sz="1400" dirty="0">
                <a:latin typeface="Times New Roman" panose="02020603050405020304" pitchFamily="18" charset="0"/>
                <a:cs typeface="Times New Roman" panose="02020603050405020304" pitchFamily="18" charset="0"/>
              </a:rPr>
              <a:t>We use NRZI encoding to convert our data into signals that USB lines </a:t>
            </a:r>
            <a:r>
              <a:rPr lang="en-US" sz="1400" dirty="0" err="1">
                <a:latin typeface="Times New Roman" panose="02020603050405020304" pitchFamily="18" charset="0"/>
                <a:cs typeface="Times New Roman" panose="02020603050405020304" pitchFamily="18" charset="0"/>
              </a:rPr>
              <a:t>understand.We</a:t>
            </a:r>
            <a:r>
              <a:rPr lang="en-US" sz="1400" dirty="0">
                <a:latin typeface="Times New Roman" panose="02020603050405020304" pitchFamily="18" charset="0"/>
                <a:cs typeface="Times New Roman" panose="02020603050405020304" pitchFamily="18" charset="0"/>
              </a:rPr>
              <a:t> also add bit stuffing – this just means inserting extra bits occasionally to keep the signal clean and synchronized.</a:t>
            </a:r>
          </a:p>
          <a:p>
            <a:r>
              <a:rPr lang="en-US" sz="1400" b="1" dirty="0">
                <a:latin typeface="Times New Roman" panose="02020603050405020304" pitchFamily="18" charset="0"/>
                <a:cs typeface="Times New Roman" panose="02020603050405020304" pitchFamily="18" charset="0"/>
              </a:rPr>
              <a:t>Data Output:</a:t>
            </a:r>
          </a:p>
          <a:p>
            <a:r>
              <a:rPr lang="en-US" sz="1400" dirty="0">
                <a:latin typeface="Times New Roman" panose="02020603050405020304" pitchFamily="18" charset="0"/>
                <a:cs typeface="Times New Roman" panose="02020603050405020304" pitchFamily="18" charset="0"/>
              </a:rPr>
              <a:t>Once the packet is ready, it’s sent through the USB lines (</a:t>
            </a:r>
            <a:r>
              <a:rPr lang="en-US" sz="1400" dirty="0" err="1">
                <a:latin typeface="Times New Roman" panose="02020603050405020304" pitchFamily="18" charset="0"/>
                <a:cs typeface="Times New Roman" panose="02020603050405020304" pitchFamily="18" charset="0"/>
              </a:rPr>
              <a:t>usb_dp</a:t>
            </a:r>
            <a:r>
              <a:rPr lang="en-US" sz="1400" dirty="0">
                <a:latin typeface="Times New Roman" panose="02020603050405020304" pitchFamily="18" charset="0"/>
                <a:cs typeface="Times New Roman" panose="02020603050405020304" pitchFamily="18" charset="0"/>
              </a:rPr>
              <a:t> and </a:t>
            </a:r>
            <a:r>
              <a:rPr lang="en-US" sz="1400" dirty="0" err="1">
                <a:latin typeface="Times New Roman" panose="02020603050405020304" pitchFamily="18" charset="0"/>
                <a:cs typeface="Times New Roman" panose="02020603050405020304" pitchFamily="18" charset="0"/>
              </a:rPr>
              <a:t>usb_dm</a:t>
            </a:r>
            <a:r>
              <a:rPr lang="en-US" sz="1400" dirty="0">
                <a:latin typeface="Times New Roman" panose="02020603050405020304" pitchFamily="18" charset="0"/>
                <a:cs typeface="Times New Roman" panose="02020603050405020304" pitchFamily="18" charset="0"/>
              </a:rPr>
              <a:t>). We also include a special End-of-Packet (EOP) signal so the receiving side knows where the message stops.</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8437" rIns="0" bIns="0" rtlCol="0">
            <a:spAutoFit/>
          </a:bodyPr>
          <a:lstStyle/>
          <a:p>
            <a:pPr marL="2306955">
              <a:lnSpc>
                <a:spcPct val="100000"/>
              </a:lnSpc>
              <a:spcBef>
                <a:spcPts val="100"/>
              </a:spcBef>
            </a:pPr>
            <a:r>
              <a:rPr sz="2800" dirty="0">
                <a:solidFill>
                  <a:srgbClr val="BE9000"/>
                </a:solidFill>
              </a:rPr>
              <a:t>BLOCK</a:t>
            </a:r>
            <a:r>
              <a:rPr sz="2800" spc="-25" dirty="0">
                <a:solidFill>
                  <a:srgbClr val="BE9000"/>
                </a:solidFill>
              </a:rPr>
              <a:t> </a:t>
            </a:r>
            <a:r>
              <a:rPr sz="2800" spc="-10" dirty="0">
                <a:solidFill>
                  <a:srgbClr val="BE9000"/>
                </a:solidFill>
              </a:rPr>
              <a:t>DIAGRAM</a:t>
            </a:r>
            <a:endParaRPr sz="2800"/>
          </a:p>
        </p:txBody>
      </p:sp>
      <p:pic>
        <p:nvPicPr>
          <p:cNvPr id="38" name="object 38"/>
          <p:cNvPicPr/>
          <p:nvPr/>
        </p:nvPicPr>
        <p:blipFill>
          <a:blip r:embed="rId2" cstate="print"/>
          <a:stretch>
            <a:fillRect/>
          </a:stretch>
        </p:blipFill>
        <p:spPr>
          <a:xfrm>
            <a:off x="8418055" y="63650"/>
            <a:ext cx="585899" cy="567840"/>
          </a:xfrm>
          <a:prstGeom prst="rect">
            <a:avLst/>
          </a:prstGeom>
        </p:spPr>
      </p:pic>
      <p:sp>
        <p:nvSpPr>
          <p:cNvPr id="39" name="object 39"/>
          <p:cNvSpPr txBox="1"/>
          <p:nvPr/>
        </p:nvSpPr>
        <p:spPr>
          <a:xfrm>
            <a:off x="73025" y="68453"/>
            <a:ext cx="4514215" cy="302260"/>
          </a:xfrm>
          <a:prstGeom prst="rect">
            <a:avLst/>
          </a:prstGeom>
        </p:spPr>
        <p:txBody>
          <a:bodyPr vert="horz" wrap="square" lIns="0" tIns="12700" rIns="0" bIns="0" rtlCol="0">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sz="900">
              <a:latin typeface="Times New Roman" panose="02020603050405020304"/>
              <a:cs typeface="Times New Roman" panose="02020603050405020304"/>
            </a:endParaRPr>
          </a:p>
        </p:txBody>
      </p:sp>
      <p:sp>
        <p:nvSpPr>
          <p:cNvPr id="42" name="object 42"/>
          <p:cNvSpPr txBox="1"/>
          <p:nvPr/>
        </p:nvSpPr>
        <p:spPr>
          <a:xfrm>
            <a:off x="228600" y="4901298"/>
            <a:ext cx="944244" cy="138430"/>
          </a:xfrm>
          <a:prstGeom prst="rect">
            <a:avLst/>
          </a:prstGeom>
        </p:spPr>
        <p:txBody>
          <a:bodyPr vert="horz" wrap="square" lIns="0" tIns="0" rIns="0" bIns="0" rtlCol="0">
            <a:spAutoFit/>
          </a:bodyPr>
          <a:lstStyle/>
          <a:p>
            <a:pPr marL="12700">
              <a:lnSpc>
                <a:spcPct val="100000"/>
              </a:lnSpc>
            </a:pPr>
            <a:r>
              <a:rPr sz="900" b="1" spc="-10" dirty="0">
                <a:solidFill>
                  <a:srgbClr val="6AA84F"/>
                </a:solidFill>
                <a:latin typeface="Times New Roman" panose="02020603050405020304"/>
                <a:cs typeface="Times New Roman" panose="02020603050405020304"/>
              </a:rPr>
              <a:t>BATCH</a:t>
            </a:r>
            <a:r>
              <a:rPr sz="900" b="1" spc="-35" dirty="0">
                <a:solidFill>
                  <a:srgbClr val="6AA84F"/>
                </a:solidFill>
                <a:latin typeface="Times New Roman" panose="02020603050405020304"/>
                <a:cs typeface="Times New Roman" panose="02020603050405020304"/>
              </a:rPr>
              <a:t> </a:t>
            </a:r>
            <a:r>
              <a:rPr sz="900" b="1" dirty="0">
                <a:solidFill>
                  <a:srgbClr val="6AA84F"/>
                </a:solidFill>
                <a:latin typeface="Times New Roman" panose="02020603050405020304"/>
                <a:cs typeface="Times New Roman" panose="02020603050405020304"/>
              </a:rPr>
              <a:t>NO:</a:t>
            </a:r>
            <a:r>
              <a:rPr sz="900" b="1" spc="-25" dirty="0">
                <a:solidFill>
                  <a:srgbClr val="6AA84F"/>
                </a:solidFill>
                <a:latin typeface="Times New Roman" panose="02020603050405020304"/>
                <a:cs typeface="Times New Roman" panose="02020603050405020304"/>
              </a:rPr>
              <a:t> </a:t>
            </a:r>
            <a:r>
              <a:rPr lang="en-IN" altLang="en-US" sz="900" b="1" spc="-25" dirty="0">
                <a:solidFill>
                  <a:srgbClr val="6AA84F"/>
                </a:solidFill>
                <a:latin typeface="Times New Roman" panose="02020603050405020304"/>
                <a:cs typeface="Times New Roman" panose="02020603050405020304"/>
              </a:rPr>
              <a:t>DV13</a:t>
            </a:r>
          </a:p>
        </p:txBody>
      </p:sp>
      <p:sp>
        <p:nvSpPr>
          <p:cNvPr id="43" name="object 43"/>
          <p:cNvSpPr txBox="1">
            <a:spLocks noGrp="1"/>
          </p:cNvSpPr>
          <p:nvPr>
            <p:ph type="sldNum" sz="quarter" idx="7"/>
          </p:nvPr>
        </p:nvSpPr>
        <p:spPr>
          <a:prstGeom prst="rect">
            <a:avLst/>
          </a:prstGeom>
        </p:spPr>
        <p:txBody>
          <a:bodyPr vert="horz" wrap="square" lIns="0" tIns="35560" rIns="0" bIns="0" rtlCol="0">
            <a:spAutoFit/>
          </a:bodyPr>
          <a:lstStyle/>
          <a:p>
            <a:pPr marL="108585">
              <a:lnSpc>
                <a:spcPct val="100000"/>
              </a:lnSpc>
              <a:spcBef>
                <a:spcPts val="280"/>
              </a:spcBef>
            </a:pPr>
            <a:fld id="{81D60167-4931-47E6-BA6A-407CBD079E47}" type="slidenum">
              <a:rPr spc="-50" dirty="0"/>
              <a:t>6</a:t>
            </a:fld>
            <a:endParaRPr spc="-50" dirty="0"/>
          </a:p>
        </p:txBody>
      </p:sp>
      <p:pic>
        <p:nvPicPr>
          <p:cNvPr id="44" name="Content Placeholder 43" descr="A screen shot of a computer&#10;&#10;AI-generated content may be incorrect."/>
          <p:cNvPicPr>
            <a:picLocks noGrp="1" noChangeAspect="1"/>
          </p:cNvPicPr>
          <p:nvPr>
            <p:ph sz="half" idx="2"/>
          </p:nvPr>
        </p:nvPicPr>
        <p:blipFill>
          <a:blip r:embed="rId3"/>
          <a:stretch>
            <a:fillRect/>
          </a:stretch>
        </p:blipFill>
        <p:spPr>
          <a:xfrm>
            <a:off x="381000" y="1352550"/>
            <a:ext cx="3977640" cy="2136140"/>
          </a:xfrm>
          <a:prstGeom prst="rect">
            <a:avLst/>
          </a:prstGeom>
          <a:ln>
            <a:noFill/>
          </a:ln>
          <a:effectLst>
            <a:outerShdw blurRad="292100" dist="139700" dir="2700000" algn="tl" rotWithShape="0">
              <a:srgbClr val="333333">
                <a:alpha val="65000"/>
              </a:srgbClr>
            </a:outerShdw>
          </a:effectLst>
        </p:spPr>
      </p:pic>
      <p:pic>
        <p:nvPicPr>
          <p:cNvPr id="46" name="Content Placeholder 45" descr="A diagram of a usb packet generator&#10;&#10;AI-generated content may be incorrect."/>
          <p:cNvPicPr>
            <a:picLocks noGrp="1" noChangeAspect="1"/>
          </p:cNvPicPr>
          <p:nvPr>
            <p:ph sz="half" idx="3"/>
          </p:nvPr>
        </p:nvPicPr>
        <p:blipFill>
          <a:blip r:embed="rId4"/>
          <a:stretch>
            <a:fillRect/>
          </a:stretch>
        </p:blipFill>
        <p:spPr>
          <a:xfrm>
            <a:off x="4709160" y="1301750"/>
            <a:ext cx="3977640" cy="2566035"/>
          </a:xfrm>
          <a:prstGeom prst="rect">
            <a:avLst/>
          </a:prstGeom>
          <a:ln>
            <a:no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4EB0C452-BF22-99C8-E50F-8D823BEFB9FE}"/>
              </a:ext>
            </a:extLst>
          </p:cNvPr>
          <p:cNvSpPr txBox="1"/>
          <p:nvPr/>
        </p:nvSpPr>
        <p:spPr>
          <a:xfrm>
            <a:off x="6240780" y="2298639"/>
            <a:ext cx="914400" cy="507831"/>
          </a:xfrm>
          <a:prstGeom prst="rect">
            <a:avLst/>
          </a:prstGeom>
          <a:solidFill>
            <a:schemeClr val="bg1"/>
          </a:solidFill>
        </p:spPr>
        <p:txBody>
          <a:bodyPr wrap="square" rtlCol="0">
            <a:spAutoFit/>
          </a:bodyPr>
          <a:lstStyle/>
          <a:p>
            <a:r>
              <a:rPr lang="en-IN" sz="900" dirty="0"/>
              <a:t>USB PACKET GENERATOR</a:t>
            </a:r>
          </a:p>
          <a:p>
            <a:endParaRPr lang="en-IN"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675" y="292415"/>
            <a:ext cx="7740650" cy="415290"/>
          </a:xfrm>
        </p:spPr>
        <p:txBody>
          <a:bodyPr/>
          <a:lstStyle/>
          <a:p>
            <a:pPr algn="ctr"/>
            <a:r>
              <a:rPr lang="en-IN" altLang="en-US" dirty="0"/>
              <a:t>EXISTING SOLUTIONS</a:t>
            </a:r>
          </a:p>
        </p:txBody>
      </p:sp>
      <p:sp>
        <p:nvSpPr>
          <p:cNvPr id="3" name="Content Placeholder 2"/>
          <p:cNvSpPr>
            <a:spLocks noGrp="1"/>
          </p:cNvSpPr>
          <p:nvPr>
            <p:ph sz="half" idx="2"/>
          </p:nvPr>
        </p:nvSpPr>
        <p:spPr>
          <a:xfrm>
            <a:off x="457200" y="1183005"/>
            <a:ext cx="8020050" cy="3279744"/>
          </a:xfrm>
        </p:spPr>
        <p:txBody>
          <a:bodyPr wrap="square"/>
          <a:lstStyle/>
          <a:p>
            <a:pPr marL="342900" indent="-342900">
              <a:lnSpc>
                <a:spcPct val="150000"/>
              </a:lnSpc>
              <a:buAutoNum type="arabicPeriod"/>
            </a:pPr>
            <a:r>
              <a:rPr lang="en-IN" dirty="0"/>
              <a:t>Software-based USB Debugging Tools</a:t>
            </a:r>
          </a:p>
          <a:p>
            <a:pPr marL="342900" indent="-342900">
              <a:lnSpc>
                <a:spcPct val="150000"/>
              </a:lnSpc>
              <a:buAutoNum type="arabicPeriod"/>
            </a:pPr>
            <a:r>
              <a:rPr lang="en-IN" dirty="0"/>
              <a:t>FPGA-based USB Packet Generators</a:t>
            </a:r>
          </a:p>
          <a:p>
            <a:pPr marL="342900" indent="-342900">
              <a:lnSpc>
                <a:spcPct val="150000"/>
              </a:lnSpc>
              <a:buAutoNum type="arabicPeriod"/>
            </a:pPr>
            <a:r>
              <a:rPr lang="en-IN" dirty="0"/>
              <a:t>USB Traffic Generators / Emulators</a:t>
            </a:r>
          </a:p>
          <a:p>
            <a:pPr marL="342900" indent="-342900">
              <a:lnSpc>
                <a:spcPct val="150000"/>
              </a:lnSpc>
              <a:buAutoNum type="arabicPeriod"/>
            </a:pPr>
            <a:endParaRPr lang="en-IN" dirty="0"/>
          </a:p>
          <a:p>
            <a:pPr>
              <a:lnSpc>
                <a:spcPct val="150000"/>
              </a:lnSpc>
            </a:pPr>
            <a:r>
              <a:rPr lang="en-US" dirty="0"/>
              <a:t>The drawbacks of these existing solutions are proprietary, expensive, and limited to specific USB versions or features, restricting flexibility when compared to USB packet generator .</a:t>
            </a:r>
          </a:p>
          <a:p>
            <a:pPr>
              <a:lnSpc>
                <a:spcPct val="150000"/>
              </a:lnSpc>
            </a:pPr>
            <a:r>
              <a:rPr lang="en-US" dirty="0"/>
              <a:t>This project offers complete visibility, flexibility, low cost, and high educational value. It’s particularly suited for academic use, RTL learning, USB protocol research, and real-time simulation — unlike existing commercial solutions that are expensive, opaque, or too abstract.</a:t>
            </a:r>
            <a:endParaRPr lang="en-IN" dirty="0"/>
          </a:p>
        </p:txBody>
      </p:sp>
      <p:sp>
        <p:nvSpPr>
          <p:cNvPr id="5" name="Text Box 4"/>
          <p:cNvSpPr txBox="1"/>
          <p:nvPr/>
        </p:nvSpPr>
        <p:spPr>
          <a:xfrm>
            <a:off x="228600" y="-19050"/>
            <a:ext cx="4572000" cy="381000"/>
          </a:xfrm>
          <a:prstGeom prst="rect">
            <a:avLst/>
          </a:prstGeom>
          <a:noFill/>
        </p:spPr>
        <p:txBody>
          <a:bodyPr wrap="square" rtlCol="0" anchor="t">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lang="en-US" sz="900">
              <a:latin typeface="Times New Roman" panose="02020603050405020304"/>
              <a:cs typeface="Times New Roman" panose="02020603050405020304"/>
            </a:endParaRPr>
          </a:p>
        </p:txBody>
      </p:sp>
      <p:sp>
        <p:nvSpPr>
          <p:cNvPr id="6" name="Text Box 5"/>
          <p:cNvSpPr txBox="1"/>
          <p:nvPr/>
        </p:nvSpPr>
        <p:spPr>
          <a:xfrm>
            <a:off x="228600" y="4894580"/>
            <a:ext cx="4572000" cy="229870"/>
          </a:xfrm>
          <a:prstGeom prst="rect">
            <a:avLst/>
          </a:prstGeom>
          <a:noFill/>
        </p:spPr>
        <p:txBody>
          <a:bodyPr wrap="square" rtlCol="0" anchor="t">
            <a:spAutoFit/>
          </a:bodyPr>
          <a:lstStyle/>
          <a:p>
            <a:r>
              <a:rPr sz="900" b="1" spc="-10" dirty="0">
                <a:solidFill>
                  <a:srgbClr val="6AA84F"/>
                </a:solidFill>
                <a:latin typeface="Times New Roman" panose="02020603050405020304"/>
                <a:cs typeface="Times New Roman" panose="02020603050405020304"/>
                <a:sym typeface="+mn-ea"/>
              </a:rPr>
              <a:t>BATCH</a:t>
            </a:r>
            <a:r>
              <a:rPr sz="900" b="1" spc="-35" dirty="0">
                <a:solidFill>
                  <a:srgbClr val="6AA84F"/>
                </a:solidFill>
                <a:latin typeface="Times New Roman" panose="02020603050405020304"/>
                <a:cs typeface="Times New Roman" panose="02020603050405020304"/>
                <a:sym typeface="+mn-ea"/>
              </a:rPr>
              <a:t> </a:t>
            </a:r>
            <a:r>
              <a:rPr sz="900" b="1" dirty="0">
                <a:solidFill>
                  <a:srgbClr val="6AA84F"/>
                </a:solidFill>
                <a:latin typeface="Times New Roman" panose="02020603050405020304"/>
                <a:cs typeface="Times New Roman" panose="02020603050405020304"/>
                <a:sym typeface="+mn-ea"/>
              </a:rPr>
              <a:t>NO:</a:t>
            </a:r>
            <a:r>
              <a:rPr sz="900" b="1" spc="-25" dirty="0">
                <a:solidFill>
                  <a:srgbClr val="6AA84F"/>
                </a:solidFill>
                <a:latin typeface="Times New Roman" panose="02020603050405020304"/>
                <a:cs typeface="Times New Roman" panose="02020603050405020304"/>
                <a:sym typeface="+mn-ea"/>
              </a:rPr>
              <a:t> </a:t>
            </a:r>
            <a:r>
              <a:rPr lang="en-IN" altLang="en-US" sz="900" b="1" spc="-25" dirty="0">
                <a:solidFill>
                  <a:srgbClr val="6AA84F"/>
                </a:solidFill>
                <a:latin typeface="Times New Roman" panose="02020603050405020304"/>
                <a:cs typeface="Times New Roman" panose="02020603050405020304"/>
                <a:sym typeface="+mn-ea"/>
              </a:rPr>
              <a:t>DV13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25AB1F-E93B-4B5F-2137-BD691A3ADC97}"/>
              </a:ext>
            </a:extLst>
          </p:cNvPr>
          <p:cNvSpPr>
            <a:spLocks noGrp="1"/>
          </p:cNvSpPr>
          <p:nvPr>
            <p:ph type="title"/>
          </p:nvPr>
        </p:nvSpPr>
        <p:spPr>
          <a:xfrm>
            <a:off x="609600" y="396356"/>
            <a:ext cx="7740650" cy="415498"/>
          </a:xfrm>
        </p:spPr>
        <p:txBody>
          <a:bodyPr/>
          <a:lstStyle/>
          <a:p>
            <a:pPr algn="ctr"/>
            <a:r>
              <a:rPr lang="en-IN" dirty="0"/>
              <a:t>EXPLANATION </a:t>
            </a:r>
          </a:p>
        </p:txBody>
      </p:sp>
      <p:sp>
        <p:nvSpPr>
          <p:cNvPr id="8" name="Text Placeholder 7">
            <a:extLst>
              <a:ext uri="{FF2B5EF4-FFF2-40B4-BE49-F238E27FC236}">
                <a16:creationId xmlns:a16="http://schemas.microsoft.com/office/drawing/2014/main" id="{421454E9-2DDC-5DA2-FFAC-F15BEEFF5D0D}"/>
              </a:ext>
            </a:extLst>
          </p:cNvPr>
          <p:cNvSpPr>
            <a:spLocks noGrp="1"/>
          </p:cNvSpPr>
          <p:nvPr>
            <p:ph type="body" idx="1"/>
          </p:nvPr>
        </p:nvSpPr>
        <p:spPr>
          <a:xfrm>
            <a:off x="360045" y="892999"/>
            <a:ext cx="8423910" cy="4018408"/>
          </a:xfrm>
        </p:spPr>
        <p:txBody>
          <a:bodyPr/>
          <a:lstStyle/>
          <a:p>
            <a:pPr>
              <a:lnSpc>
                <a:spcPct val="150000"/>
              </a:lnSpc>
            </a:pPr>
            <a:r>
              <a:rPr lang="en-US" dirty="0"/>
              <a:t>This project aims to design and implement a </a:t>
            </a:r>
            <a:r>
              <a:rPr lang="en-US" b="1" dirty="0"/>
              <a:t>USB 2.0 packet generator</a:t>
            </a:r>
            <a:r>
              <a:rPr lang="en-US" dirty="0"/>
              <a:t> using Register Transfer Level (RTL) design in Verilog HDL. It simulates and generates USB packets—</a:t>
            </a:r>
            <a:r>
              <a:rPr lang="en-US" b="1" dirty="0"/>
              <a:t>Token</a:t>
            </a:r>
            <a:r>
              <a:rPr lang="en-US" dirty="0"/>
              <a:t>, </a:t>
            </a:r>
            <a:r>
              <a:rPr lang="en-US" b="1" dirty="0"/>
              <a:t>Data</a:t>
            </a:r>
            <a:r>
              <a:rPr lang="en-US" dirty="0"/>
              <a:t>, and </a:t>
            </a:r>
            <a:r>
              <a:rPr lang="en-US" b="1" dirty="0"/>
              <a:t>Handshake</a:t>
            </a:r>
            <a:r>
              <a:rPr lang="en-US" dirty="0"/>
              <a:t>—for real-time data streaming and </a:t>
            </a:r>
            <a:r>
              <a:rPr lang="en-US" b="1" dirty="0"/>
              <a:t>testing of </a:t>
            </a:r>
            <a:r>
              <a:rPr lang="en-US" dirty="0"/>
              <a:t>USB-enabled embedded systems. The design is verified using simulations and also tested on FPGA hardware.</a:t>
            </a:r>
          </a:p>
          <a:p>
            <a:pPr>
              <a:lnSpc>
                <a:spcPct val="150000"/>
              </a:lnSpc>
            </a:pPr>
            <a:r>
              <a:rPr lang="en-US" dirty="0"/>
              <a:t>Generates and transmits USB packets such as OUT, IN, SOF, and DATA, following USB 2.0 protocol </a:t>
            </a:r>
          </a:p>
          <a:p>
            <a:pPr>
              <a:lnSpc>
                <a:spcPct val="150000"/>
              </a:lnSpc>
            </a:pPr>
            <a:r>
              <a:rPr lang="en-US" dirty="0"/>
              <a:t>TOKEN PACKETS  : Used to communicate transaction type and target device. </a:t>
            </a:r>
          </a:p>
          <a:p>
            <a:pPr>
              <a:lnSpc>
                <a:spcPct val="150000"/>
              </a:lnSpc>
            </a:pPr>
            <a:r>
              <a:rPr lang="en-US" dirty="0"/>
              <a:t>Types: </a:t>
            </a:r>
          </a:p>
          <a:p>
            <a:pPr>
              <a:lnSpc>
                <a:spcPct val="150000"/>
              </a:lnSpc>
            </a:pPr>
            <a:r>
              <a:rPr lang="en-US" dirty="0"/>
              <a:t> OUT: Host → Device </a:t>
            </a:r>
          </a:p>
          <a:p>
            <a:pPr>
              <a:lnSpc>
                <a:spcPct val="150000"/>
              </a:lnSpc>
            </a:pPr>
            <a:r>
              <a:rPr lang="en-US" dirty="0"/>
              <a:t> IN: Device → Host </a:t>
            </a:r>
          </a:p>
          <a:p>
            <a:pPr>
              <a:lnSpc>
                <a:spcPct val="150000"/>
              </a:lnSpc>
            </a:pPr>
            <a:r>
              <a:rPr lang="en-US" dirty="0"/>
              <a:t> SOF: Start-of-Frame for timing synchronization </a:t>
            </a:r>
          </a:p>
          <a:p>
            <a:pPr>
              <a:lnSpc>
                <a:spcPct val="150000"/>
              </a:lnSpc>
            </a:pPr>
            <a:r>
              <a:rPr lang="en-US" dirty="0"/>
              <a:t>DATA PACKETS :Carry payload from host to device or vice versa. </a:t>
            </a:r>
          </a:p>
        </p:txBody>
      </p:sp>
      <p:pic>
        <p:nvPicPr>
          <p:cNvPr id="4" name="object 4"/>
          <p:cNvPicPr>
            <a:picLocks noGrp="1" noChangeAspect="1"/>
          </p:cNvPicPr>
          <p:nvPr>
            <p:ph sz="half" idx="4294967295"/>
          </p:nvPr>
        </p:nvPicPr>
        <p:blipFill>
          <a:blip r:embed="rId2" cstate="print"/>
          <a:stretch>
            <a:fillRect/>
          </a:stretch>
        </p:blipFill>
        <p:spPr>
          <a:xfrm>
            <a:off x="8199438" y="133350"/>
            <a:ext cx="944562" cy="639763"/>
          </a:xfrm>
          <a:prstGeom prst="rect">
            <a:avLst/>
          </a:prstGeom>
        </p:spPr>
      </p:pic>
      <p:sp>
        <p:nvSpPr>
          <p:cNvPr id="6" name="Text Box 5"/>
          <p:cNvSpPr txBox="1"/>
          <p:nvPr/>
        </p:nvSpPr>
        <p:spPr>
          <a:xfrm>
            <a:off x="228600" y="57150"/>
            <a:ext cx="5515610" cy="381000"/>
          </a:xfrm>
          <a:prstGeom prst="rect">
            <a:avLst/>
          </a:prstGeom>
          <a:noFill/>
        </p:spPr>
        <p:txBody>
          <a:bodyPr wrap="square" rtlCol="0" anchor="t">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dirty="0">
              <a:latin typeface="Times New Roman" panose="02020603050405020304"/>
              <a:cs typeface="Times New Roman" panose="02020603050405020304"/>
            </a:endParaRPr>
          </a:p>
          <a:p>
            <a:pPr marL="12700">
              <a:lnSpc>
                <a:spcPct val="100000"/>
              </a:lnSpc>
              <a:spcBef>
                <a:spcPts val="100"/>
              </a:spcBef>
            </a:pPr>
            <a:endParaRPr lang="en-US" sz="900" b="1" spc="-20" dirty="0">
              <a:solidFill>
                <a:srgbClr val="6AA84F"/>
              </a:solidFill>
              <a:latin typeface="Times New Roman" panose="02020603050405020304"/>
              <a:cs typeface="Times New Roman" panose="02020603050405020304"/>
              <a:sym typeface="+mn-ea"/>
            </a:endParaRPr>
          </a:p>
        </p:txBody>
      </p:sp>
      <p:sp>
        <p:nvSpPr>
          <p:cNvPr id="9" name="Text Box 10">
            <a:extLst>
              <a:ext uri="{FF2B5EF4-FFF2-40B4-BE49-F238E27FC236}">
                <a16:creationId xmlns:a16="http://schemas.microsoft.com/office/drawing/2014/main" id="{5270A9D9-CBB7-C7BC-775C-992E3BB382CB}"/>
              </a:ext>
            </a:extLst>
          </p:cNvPr>
          <p:cNvSpPr txBox="1"/>
          <p:nvPr/>
        </p:nvSpPr>
        <p:spPr>
          <a:xfrm>
            <a:off x="304800" y="4863624"/>
            <a:ext cx="4572000" cy="229870"/>
          </a:xfrm>
          <a:prstGeom prst="rect">
            <a:avLst/>
          </a:prstGeom>
          <a:noFill/>
        </p:spPr>
        <p:txBody>
          <a:bodyPr wrap="square" rtlCol="0" anchor="t">
            <a:spAutoFit/>
          </a:bodyPr>
          <a:lstStyle/>
          <a:p>
            <a:r>
              <a:rPr sz="900" b="1" spc="-10" dirty="0">
                <a:solidFill>
                  <a:srgbClr val="6AA84F"/>
                </a:solidFill>
                <a:latin typeface="Times New Roman" panose="02020603050405020304"/>
                <a:cs typeface="Times New Roman" panose="02020603050405020304"/>
                <a:sym typeface="+mn-ea"/>
              </a:rPr>
              <a:t>BATCH</a:t>
            </a:r>
            <a:r>
              <a:rPr sz="900" b="1" spc="-35" dirty="0">
                <a:solidFill>
                  <a:srgbClr val="6AA84F"/>
                </a:solidFill>
                <a:latin typeface="Times New Roman" panose="02020603050405020304"/>
                <a:cs typeface="Times New Roman" panose="02020603050405020304"/>
                <a:sym typeface="+mn-ea"/>
              </a:rPr>
              <a:t> </a:t>
            </a:r>
            <a:r>
              <a:rPr sz="900" b="1" dirty="0">
                <a:solidFill>
                  <a:srgbClr val="6AA84F"/>
                </a:solidFill>
                <a:latin typeface="Times New Roman" panose="02020603050405020304"/>
                <a:cs typeface="Times New Roman" panose="02020603050405020304"/>
                <a:sym typeface="+mn-ea"/>
              </a:rPr>
              <a:t>NO:</a:t>
            </a:r>
            <a:r>
              <a:rPr sz="900" b="1" spc="-25" dirty="0">
                <a:solidFill>
                  <a:srgbClr val="6AA84F"/>
                </a:solidFill>
                <a:latin typeface="Times New Roman" panose="02020603050405020304"/>
                <a:cs typeface="Times New Roman" panose="02020603050405020304"/>
                <a:sym typeface="+mn-ea"/>
              </a:rPr>
              <a:t> </a:t>
            </a:r>
            <a:r>
              <a:rPr lang="en-IN" altLang="en-US" sz="900" b="1" spc="-25" dirty="0">
                <a:solidFill>
                  <a:srgbClr val="6AA84F"/>
                </a:solidFill>
                <a:latin typeface="Times New Roman" panose="02020603050405020304"/>
                <a:cs typeface="Times New Roman" panose="02020603050405020304"/>
                <a:sym typeface="+mn-ea"/>
              </a:rPr>
              <a:t>DV13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89945-350A-C9BD-AAB2-958B2FE9CE39}"/>
              </a:ext>
            </a:extLst>
          </p:cNvPr>
          <p:cNvSpPr>
            <a:spLocks noGrp="1"/>
          </p:cNvSpPr>
          <p:nvPr>
            <p:ph type="title"/>
          </p:nvPr>
        </p:nvSpPr>
        <p:spPr>
          <a:xfrm>
            <a:off x="701675" y="292415"/>
            <a:ext cx="7740650" cy="415498"/>
          </a:xfrm>
        </p:spPr>
        <p:txBody>
          <a:bodyPr/>
          <a:lstStyle/>
          <a:p>
            <a:r>
              <a:rPr lang="en-IN" dirty="0"/>
              <a:t>CONTD..</a:t>
            </a:r>
          </a:p>
        </p:txBody>
      </p:sp>
      <p:sp>
        <p:nvSpPr>
          <p:cNvPr id="3" name="Text Placeholder 2">
            <a:extLst>
              <a:ext uri="{FF2B5EF4-FFF2-40B4-BE49-F238E27FC236}">
                <a16:creationId xmlns:a16="http://schemas.microsoft.com/office/drawing/2014/main" id="{6D6D0C46-3388-E888-3004-5558AC0BDC29}"/>
              </a:ext>
            </a:extLst>
          </p:cNvPr>
          <p:cNvSpPr>
            <a:spLocks noGrp="1"/>
          </p:cNvSpPr>
          <p:nvPr>
            <p:ph type="body" idx="1"/>
          </p:nvPr>
        </p:nvSpPr>
        <p:spPr>
          <a:xfrm>
            <a:off x="360045" y="895350"/>
            <a:ext cx="8423910" cy="4018408"/>
          </a:xfrm>
        </p:spPr>
        <p:txBody>
          <a:bodyPr/>
          <a:lstStyle/>
          <a:p>
            <a:pPr>
              <a:lnSpc>
                <a:spcPct val="150000"/>
              </a:lnSpc>
            </a:pPr>
            <a:r>
              <a:rPr lang="en-US" dirty="0"/>
              <a:t>HANDSHAKE PACKETS : Acknowledge the status of the transaction. </a:t>
            </a:r>
          </a:p>
          <a:p>
            <a:pPr>
              <a:lnSpc>
                <a:spcPct val="150000"/>
              </a:lnSpc>
            </a:pPr>
            <a:r>
              <a:rPr lang="en-US" dirty="0"/>
              <a:t>Types: </a:t>
            </a:r>
          </a:p>
          <a:p>
            <a:pPr>
              <a:lnSpc>
                <a:spcPct val="150000"/>
              </a:lnSpc>
            </a:pPr>
            <a:r>
              <a:rPr lang="en-US" dirty="0"/>
              <a:t> ACK: Data received successfully o</a:t>
            </a:r>
          </a:p>
          <a:p>
            <a:pPr>
              <a:lnSpc>
                <a:spcPct val="150000"/>
              </a:lnSpc>
            </a:pPr>
            <a:r>
              <a:rPr lang="en-US" dirty="0"/>
              <a:t>NAK: Device not ready </a:t>
            </a:r>
          </a:p>
          <a:p>
            <a:pPr>
              <a:lnSpc>
                <a:spcPct val="150000"/>
              </a:lnSpc>
            </a:pPr>
            <a:r>
              <a:rPr lang="en-US" dirty="0"/>
              <a:t>STALL: Device encountered error </a:t>
            </a:r>
          </a:p>
          <a:p>
            <a:pPr>
              <a:lnSpc>
                <a:spcPct val="150000"/>
              </a:lnSpc>
            </a:pPr>
            <a:r>
              <a:rPr lang="en-US" dirty="0"/>
              <a:t>USB uses NRZI (Non-Return to Zero Inverted) encoding to transmit data over the differential </a:t>
            </a:r>
            <a:r>
              <a:rPr lang="en-US" dirty="0" err="1"/>
              <a:t>usb_dp</a:t>
            </a:r>
            <a:r>
              <a:rPr lang="en-US" dirty="0"/>
              <a:t> and </a:t>
            </a:r>
            <a:r>
              <a:rPr lang="en-US" dirty="0" err="1"/>
              <a:t>usb_dm</a:t>
            </a:r>
            <a:r>
              <a:rPr lang="en-US" dirty="0"/>
              <a:t> lines. In NRZI encoding, a logical '1' is represented by no change in the signal level, while a logical '0' is represented by a transition (inversion) on the differential pair.</a:t>
            </a:r>
          </a:p>
          <a:p>
            <a:pPr>
              <a:lnSpc>
                <a:spcPct val="150000"/>
              </a:lnSpc>
            </a:pPr>
            <a:r>
              <a:rPr lang="en-US" dirty="0"/>
              <a:t>CRC GENERATOR : Appends USB-compliant CRC fields for both token and data packets to ensure data integrity.</a:t>
            </a:r>
          </a:p>
          <a:p>
            <a:pPr>
              <a:lnSpc>
                <a:spcPct val="150000"/>
              </a:lnSpc>
            </a:pPr>
            <a:r>
              <a:rPr lang="en-US" dirty="0"/>
              <a:t>  </a:t>
            </a:r>
            <a:endParaRPr lang="en-IN" dirty="0"/>
          </a:p>
        </p:txBody>
      </p:sp>
      <p:sp>
        <p:nvSpPr>
          <p:cNvPr id="4" name="Text Box 10">
            <a:extLst>
              <a:ext uri="{FF2B5EF4-FFF2-40B4-BE49-F238E27FC236}">
                <a16:creationId xmlns:a16="http://schemas.microsoft.com/office/drawing/2014/main" id="{9945FD99-870B-1934-EE11-5F22E0DEC446}"/>
              </a:ext>
            </a:extLst>
          </p:cNvPr>
          <p:cNvSpPr txBox="1"/>
          <p:nvPr/>
        </p:nvSpPr>
        <p:spPr>
          <a:xfrm>
            <a:off x="152400" y="4839335"/>
            <a:ext cx="4572000" cy="229870"/>
          </a:xfrm>
          <a:prstGeom prst="rect">
            <a:avLst/>
          </a:prstGeom>
          <a:noFill/>
        </p:spPr>
        <p:txBody>
          <a:bodyPr wrap="square" rtlCol="0" anchor="t">
            <a:spAutoFit/>
          </a:bodyPr>
          <a:lstStyle/>
          <a:p>
            <a:r>
              <a:rPr sz="900" b="1" spc="-10" dirty="0">
                <a:solidFill>
                  <a:srgbClr val="6AA84F"/>
                </a:solidFill>
                <a:latin typeface="Times New Roman" panose="02020603050405020304"/>
                <a:cs typeface="Times New Roman" panose="02020603050405020304"/>
                <a:sym typeface="+mn-ea"/>
              </a:rPr>
              <a:t>BATCH</a:t>
            </a:r>
            <a:r>
              <a:rPr sz="900" b="1" spc="-35" dirty="0">
                <a:solidFill>
                  <a:srgbClr val="6AA84F"/>
                </a:solidFill>
                <a:latin typeface="Times New Roman" panose="02020603050405020304"/>
                <a:cs typeface="Times New Roman" panose="02020603050405020304"/>
                <a:sym typeface="+mn-ea"/>
              </a:rPr>
              <a:t> </a:t>
            </a:r>
            <a:r>
              <a:rPr sz="900" b="1" dirty="0">
                <a:solidFill>
                  <a:srgbClr val="6AA84F"/>
                </a:solidFill>
                <a:latin typeface="Times New Roman" panose="02020603050405020304"/>
                <a:cs typeface="Times New Roman" panose="02020603050405020304"/>
                <a:sym typeface="+mn-ea"/>
              </a:rPr>
              <a:t>NO:</a:t>
            </a:r>
            <a:r>
              <a:rPr sz="900" b="1" spc="-25" dirty="0">
                <a:solidFill>
                  <a:srgbClr val="6AA84F"/>
                </a:solidFill>
                <a:latin typeface="Times New Roman" panose="02020603050405020304"/>
                <a:cs typeface="Times New Roman" panose="02020603050405020304"/>
                <a:sym typeface="+mn-ea"/>
              </a:rPr>
              <a:t> </a:t>
            </a:r>
            <a:r>
              <a:rPr lang="en-IN" altLang="en-US" sz="900" b="1" spc="-25" dirty="0">
                <a:solidFill>
                  <a:srgbClr val="6AA84F"/>
                </a:solidFill>
                <a:latin typeface="Times New Roman" panose="02020603050405020304"/>
                <a:cs typeface="Times New Roman" panose="02020603050405020304"/>
                <a:sym typeface="+mn-ea"/>
              </a:rPr>
              <a:t>DV13</a:t>
            </a:r>
          </a:p>
        </p:txBody>
      </p:sp>
      <p:sp>
        <p:nvSpPr>
          <p:cNvPr id="6" name="Text Box 5">
            <a:extLst>
              <a:ext uri="{FF2B5EF4-FFF2-40B4-BE49-F238E27FC236}">
                <a16:creationId xmlns:a16="http://schemas.microsoft.com/office/drawing/2014/main" id="{15344EA7-5291-BE9C-A2B5-093E17A8CC69}"/>
              </a:ext>
            </a:extLst>
          </p:cNvPr>
          <p:cNvSpPr txBox="1"/>
          <p:nvPr/>
        </p:nvSpPr>
        <p:spPr>
          <a:xfrm>
            <a:off x="228600" y="57150"/>
            <a:ext cx="5515610" cy="381000"/>
          </a:xfrm>
          <a:prstGeom prst="rect">
            <a:avLst/>
          </a:prstGeom>
          <a:noFill/>
        </p:spPr>
        <p:txBody>
          <a:bodyPr wrap="square" rtlCol="0" anchor="t">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dirty="0">
              <a:latin typeface="Times New Roman" panose="02020603050405020304"/>
              <a:cs typeface="Times New Roman" panose="02020603050405020304"/>
            </a:endParaRPr>
          </a:p>
          <a:p>
            <a:pPr marL="12700">
              <a:lnSpc>
                <a:spcPct val="100000"/>
              </a:lnSpc>
              <a:spcBef>
                <a:spcPts val="100"/>
              </a:spcBef>
            </a:pPr>
            <a:endParaRPr lang="en-US" sz="900" b="1" spc="-20" dirty="0">
              <a:solidFill>
                <a:srgbClr val="6AA84F"/>
              </a:solidFill>
              <a:latin typeface="Times New Roman" panose="02020603050405020304"/>
              <a:cs typeface="Times New Roman" panose="02020603050405020304"/>
              <a:sym typeface="+mn-ea"/>
            </a:endParaRPr>
          </a:p>
        </p:txBody>
      </p:sp>
    </p:spTree>
    <p:extLst>
      <p:ext uri="{BB962C8B-B14F-4D97-AF65-F5344CB8AC3E}">
        <p14:creationId xmlns:p14="http://schemas.microsoft.com/office/powerpoint/2010/main" val="793073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3025" y="68453"/>
            <a:ext cx="4514215" cy="302260"/>
          </a:xfrm>
          <a:prstGeom prst="rect">
            <a:avLst/>
          </a:prstGeom>
        </p:spPr>
        <p:txBody>
          <a:bodyPr vert="horz" wrap="square" lIns="0" tIns="12700" rIns="0" bIns="0" rtlCol="0">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sz="900">
              <a:latin typeface="Times New Roman" panose="02020603050405020304"/>
              <a:cs typeface="Times New Roman" panose="02020603050405020304"/>
            </a:endParaRPr>
          </a:p>
        </p:txBody>
      </p:sp>
      <p:pic>
        <p:nvPicPr>
          <p:cNvPr id="3" name="object 3"/>
          <p:cNvPicPr/>
          <p:nvPr/>
        </p:nvPicPr>
        <p:blipFill>
          <a:blip r:embed="rId2" cstate="print"/>
          <a:stretch>
            <a:fillRect/>
          </a:stretch>
        </p:blipFill>
        <p:spPr>
          <a:xfrm>
            <a:off x="8494655" y="76200"/>
            <a:ext cx="585899" cy="567840"/>
          </a:xfrm>
          <a:prstGeom prst="rect">
            <a:avLst/>
          </a:prstGeom>
        </p:spPr>
      </p:pic>
      <p:sp>
        <p:nvSpPr>
          <p:cNvPr id="4" name="object 4"/>
          <p:cNvSpPr txBox="1">
            <a:spLocks noGrp="1"/>
          </p:cNvSpPr>
          <p:nvPr>
            <p:ph type="title"/>
          </p:nvPr>
        </p:nvSpPr>
        <p:spPr>
          <a:xfrm>
            <a:off x="3552560" y="444815"/>
            <a:ext cx="1414780" cy="452120"/>
          </a:xfrm>
          <a:prstGeom prst="rect">
            <a:avLst/>
          </a:prstGeom>
        </p:spPr>
        <p:txBody>
          <a:bodyPr vert="horz" wrap="square" lIns="0" tIns="12700" rIns="0" bIns="0" rtlCol="0">
            <a:spAutoFit/>
          </a:bodyPr>
          <a:lstStyle/>
          <a:p>
            <a:pPr marL="12700">
              <a:lnSpc>
                <a:spcPct val="100000"/>
              </a:lnSpc>
              <a:spcBef>
                <a:spcPts val="100"/>
              </a:spcBef>
            </a:pPr>
            <a:r>
              <a:rPr sz="2800" spc="-35" dirty="0">
                <a:solidFill>
                  <a:srgbClr val="682523"/>
                </a:solidFill>
              </a:rPr>
              <a:t>RESULT</a:t>
            </a:r>
            <a:endParaRPr sz="2800"/>
          </a:p>
        </p:txBody>
      </p:sp>
      <p:sp>
        <p:nvSpPr>
          <p:cNvPr id="10" name="object 10"/>
          <p:cNvSpPr txBox="1">
            <a:spLocks noGrp="1"/>
          </p:cNvSpPr>
          <p:nvPr>
            <p:ph type="sldNum" sz="quarter" idx="7"/>
          </p:nvPr>
        </p:nvSpPr>
        <p:spPr>
          <a:prstGeom prst="rect">
            <a:avLst/>
          </a:prstGeom>
        </p:spPr>
        <p:txBody>
          <a:bodyPr vert="horz" wrap="square" lIns="0" tIns="635" rIns="0" bIns="0" rtlCol="0">
            <a:spAutoFit/>
          </a:bodyPr>
          <a:lstStyle/>
          <a:p>
            <a:pPr marL="108585">
              <a:lnSpc>
                <a:spcPct val="100000"/>
              </a:lnSpc>
              <a:spcBef>
                <a:spcPts val="5"/>
              </a:spcBef>
            </a:pPr>
            <a:fld id="{81D60167-4931-47E6-BA6A-407CBD079E47}" type="slidenum">
              <a:rPr spc="-50" dirty="0"/>
              <a:t>10</a:t>
            </a:fld>
            <a:endParaRPr spc="-50" dirty="0"/>
          </a:p>
        </p:txBody>
      </p:sp>
      <p:sp>
        <p:nvSpPr>
          <p:cNvPr id="11" name="Text Box 10"/>
          <p:cNvSpPr txBox="1"/>
          <p:nvPr/>
        </p:nvSpPr>
        <p:spPr>
          <a:xfrm>
            <a:off x="152400" y="4839335"/>
            <a:ext cx="4572000" cy="229870"/>
          </a:xfrm>
          <a:prstGeom prst="rect">
            <a:avLst/>
          </a:prstGeom>
          <a:noFill/>
        </p:spPr>
        <p:txBody>
          <a:bodyPr wrap="square" rtlCol="0" anchor="t">
            <a:spAutoFit/>
          </a:bodyPr>
          <a:lstStyle/>
          <a:p>
            <a:r>
              <a:rPr sz="900" b="1" spc="-10" dirty="0">
                <a:solidFill>
                  <a:srgbClr val="6AA84F"/>
                </a:solidFill>
                <a:latin typeface="Times New Roman" panose="02020603050405020304"/>
                <a:cs typeface="Times New Roman" panose="02020603050405020304"/>
                <a:sym typeface="+mn-ea"/>
              </a:rPr>
              <a:t>BATCH</a:t>
            </a:r>
            <a:r>
              <a:rPr sz="900" b="1" spc="-35" dirty="0">
                <a:solidFill>
                  <a:srgbClr val="6AA84F"/>
                </a:solidFill>
                <a:latin typeface="Times New Roman" panose="02020603050405020304"/>
                <a:cs typeface="Times New Roman" panose="02020603050405020304"/>
                <a:sym typeface="+mn-ea"/>
              </a:rPr>
              <a:t> </a:t>
            </a:r>
            <a:r>
              <a:rPr sz="900" b="1" dirty="0">
                <a:solidFill>
                  <a:srgbClr val="6AA84F"/>
                </a:solidFill>
                <a:latin typeface="Times New Roman" panose="02020603050405020304"/>
                <a:cs typeface="Times New Roman" panose="02020603050405020304"/>
                <a:sym typeface="+mn-ea"/>
              </a:rPr>
              <a:t>NO:</a:t>
            </a:r>
            <a:r>
              <a:rPr sz="900" b="1" spc="-25" dirty="0">
                <a:solidFill>
                  <a:srgbClr val="6AA84F"/>
                </a:solidFill>
                <a:latin typeface="Times New Roman" panose="02020603050405020304"/>
                <a:cs typeface="Times New Roman" panose="02020603050405020304"/>
                <a:sym typeface="+mn-ea"/>
              </a:rPr>
              <a:t> </a:t>
            </a:r>
            <a:r>
              <a:rPr lang="en-IN" altLang="en-US" sz="900" b="1" spc="-25" dirty="0">
                <a:solidFill>
                  <a:srgbClr val="6AA84F"/>
                </a:solidFill>
                <a:latin typeface="Times New Roman" panose="02020603050405020304"/>
                <a:cs typeface="Times New Roman" panose="02020603050405020304"/>
                <a:sym typeface="+mn-ea"/>
              </a:rPr>
              <a:t>DV13</a:t>
            </a:r>
          </a:p>
        </p:txBody>
      </p:sp>
      <p:sp>
        <p:nvSpPr>
          <p:cNvPr id="14" name="TextBox 13">
            <a:extLst>
              <a:ext uri="{FF2B5EF4-FFF2-40B4-BE49-F238E27FC236}">
                <a16:creationId xmlns:a16="http://schemas.microsoft.com/office/drawing/2014/main" id="{5A3E3502-492D-E34F-D928-4C4F196DBE05}"/>
              </a:ext>
            </a:extLst>
          </p:cNvPr>
          <p:cNvSpPr txBox="1"/>
          <p:nvPr/>
        </p:nvSpPr>
        <p:spPr>
          <a:xfrm>
            <a:off x="609600" y="1158474"/>
            <a:ext cx="7696200" cy="3285323"/>
          </a:xfrm>
          <a:prstGeom prst="rect">
            <a:avLst/>
          </a:prstGeom>
          <a:noFill/>
        </p:spPr>
        <p:txBody>
          <a:bodyPr wrap="square">
            <a:spAutoFit/>
          </a:bodyPr>
          <a:lstStyle/>
          <a:p>
            <a:pPr>
              <a:lnSpc>
                <a:spcPct val="150000"/>
              </a:lnSpc>
            </a:pPr>
            <a:r>
              <a:rPr lang="en-US" sz="1400" dirty="0">
                <a:latin typeface="Times New Roman" panose="02020603050405020304" pitchFamily="18" charset="0"/>
                <a:cs typeface="Times New Roman" panose="02020603050405020304" pitchFamily="18" charset="0"/>
              </a:rPr>
              <a:t>The system successfully generated all the required USB packet types — including token, data, and handshake packets — exactly as defined by the USB protocol. In the testbench, when the packet type is set to 0001 or 1011, it indicates an OUT packet, and the design assigns the PID value 0001 for this packet. The Token Address is formed by combining a 7-bit device address (example: 8) and a 4-bit endpoint number (example: 1), resulting in an 11-bit value, which equals 140 in decimal. The finite state machine (FSM) in the design starts in the idle state and transitions to the sync state, where it sends an 8-bit sync pattern using a bit counter. After completing the sync, it moves to the PID state and sends the 8-bit PID. When the bit count is less than 7, it transitions to the Token Address state and transmits the 11-bit Token Address. Then, a 5-bit CRC5 is added. The complete packet is NRZI encoded and transmitted through the USB DP and DM lines, which can be observed in the waveform.</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3025" y="68453"/>
            <a:ext cx="4514215" cy="302260"/>
          </a:xfrm>
          <a:prstGeom prst="rect">
            <a:avLst/>
          </a:prstGeom>
        </p:spPr>
        <p:txBody>
          <a:bodyPr vert="horz" wrap="square" lIns="0" tIns="12700" rIns="0" bIns="0" rtlCol="0">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sz="900">
              <a:latin typeface="Times New Roman" panose="02020603050405020304"/>
              <a:cs typeface="Times New Roman" panose="02020603050405020304"/>
            </a:endParaRPr>
          </a:p>
        </p:txBody>
      </p:sp>
      <p:pic>
        <p:nvPicPr>
          <p:cNvPr id="3" name="object 3"/>
          <p:cNvPicPr/>
          <p:nvPr/>
        </p:nvPicPr>
        <p:blipFill>
          <a:blip r:embed="rId2" cstate="print"/>
          <a:stretch>
            <a:fillRect/>
          </a:stretch>
        </p:blipFill>
        <p:spPr>
          <a:xfrm>
            <a:off x="8494655" y="76200"/>
            <a:ext cx="585899" cy="567840"/>
          </a:xfrm>
          <a:prstGeom prst="rect">
            <a:avLst/>
          </a:prstGeom>
        </p:spPr>
      </p:pic>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2800" spc="-35" dirty="0">
                <a:solidFill>
                  <a:srgbClr val="682523"/>
                </a:solidFill>
              </a:rPr>
              <a:t>RESULT</a:t>
            </a:r>
            <a:endParaRPr sz="2800" dirty="0"/>
          </a:p>
        </p:txBody>
      </p:sp>
      <p:sp>
        <p:nvSpPr>
          <p:cNvPr id="11" name="object 11"/>
          <p:cNvSpPr txBox="1">
            <a:spLocks noGrp="1"/>
          </p:cNvSpPr>
          <p:nvPr>
            <p:ph type="sldNum" sz="quarter" idx="7"/>
          </p:nvPr>
        </p:nvSpPr>
        <p:spPr>
          <a:prstGeom prst="rect">
            <a:avLst/>
          </a:prstGeom>
        </p:spPr>
        <p:txBody>
          <a:bodyPr vert="horz" wrap="square" lIns="0" tIns="635" rIns="0" bIns="0" rtlCol="0">
            <a:spAutoFit/>
          </a:bodyPr>
          <a:lstStyle/>
          <a:p>
            <a:pPr marL="108585">
              <a:lnSpc>
                <a:spcPct val="100000"/>
              </a:lnSpc>
              <a:spcBef>
                <a:spcPts val="5"/>
              </a:spcBef>
            </a:pPr>
            <a:fld id="{81D60167-4931-47E6-BA6A-407CBD079E47}" type="slidenum">
              <a:rPr spc="-50" dirty="0"/>
              <a:t>11</a:t>
            </a:fld>
            <a:endParaRPr spc="-50" dirty="0"/>
          </a:p>
        </p:txBody>
      </p:sp>
      <p:pic>
        <p:nvPicPr>
          <p:cNvPr id="16" name="Content Placeholder 15" descr="A screen shot of a computer screen&#10;&#10;AI-generated content may be incorrect."/>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95935" y="1332136"/>
            <a:ext cx="7946390" cy="2874645"/>
          </a:xfrm>
          <a:prstGeom prst="rect">
            <a:avLst/>
          </a:prstGeom>
          <a:ln>
            <a:noFill/>
          </a:ln>
          <a:effectLst>
            <a:outerShdw blurRad="292100" dist="139700" dir="2700000" algn="tl" rotWithShape="0">
              <a:srgbClr val="333333">
                <a:alpha val="65000"/>
              </a:srgbClr>
            </a:outerShdw>
          </a:effectLst>
        </p:spPr>
      </p:pic>
      <p:sp>
        <p:nvSpPr>
          <p:cNvPr id="13" name="Text Box 12"/>
          <p:cNvSpPr txBox="1"/>
          <p:nvPr/>
        </p:nvSpPr>
        <p:spPr>
          <a:xfrm>
            <a:off x="2852420" y="4503420"/>
            <a:ext cx="3048000" cy="368300"/>
          </a:xfrm>
          <a:prstGeom prst="rect">
            <a:avLst/>
          </a:prstGeom>
          <a:noFill/>
        </p:spPr>
        <p:txBody>
          <a:bodyPr wrap="square" rtlCol="0">
            <a:spAutoFit/>
          </a:bodyPr>
          <a:lstStyle/>
          <a:p>
            <a:r>
              <a:rPr lang="en-IN" altLang="en-US"/>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3025" y="68453"/>
            <a:ext cx="4514215" cy="302260"/>
          </a:xfrm>
          <a:prstGeom prst="rect">
            <a:avLst/>
          </a:prstGeom>
        </p:spPr>
        <p:txBody>
          <a:bodyPr vert="horz" wrap="square" lIns="0" tIns="12700" rIns="0" bIns="0" rtlCol="0">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sz="900">
              <a:latin typeface="Times New Roman" panose="02020603050405020304"/>
              <a:cs typeface="Times New Roman" panose="02020603050405020304"/>
            </a:endParaRPr>
          </a:p>
        </p:txBody>
      </p:sp>
      <p:pic>
        <p:nvPicPr>
          <p:cNvPr id="3" name="object 3"/>
          <p:cNvPicPr/>
          <p:nvPr/>
        </p:nvPicPr>
        <p:blipFill>
          <a:blip r:embed="rId2" cstate="print"/>
          <a:stretch>
            <a:fillRect/>
          </a:stretch>
        </p:blipFill>
        <p:spPr>
          <a:xfrm>
            <a:off x="8494655" y="76200"/>
            <a:ext cx="585899" cy="567840"/>
          </a:xfrm>
          <a:prstGeom prst="rect">
            <a:avLst/>
          </a:prstGeom>
        </p:spPr>
      </p:pic>
      <p:sp>
        <p:nvSpPr>
          <p:cNvPr id="4" name="object 4"/>
          <p:cNvSpPr txBox="1">
            <a:spLocks noGrp="1"/>
          </p:cNvSpPr>
          <p:nvPr>
            <p:ph type="title"/>
          </p:nvPr>
        </p:nvSpPr>
        <p:spPr>
          <a:prstGeom prst="rect">
            <a:avLst/>
          </a:prstGeom>
        </p:spPr>
        <p:txBody>
          <a:bodyPr vert="horz" wrap="square" lIns="0" tIns="220947" rIns="0" bIns="0" rtlCol="0">
            <a:spAutoFit/>
          </a:bodyPr>
          <a:lstStyle/>
          <a:p>
            <a:pPr marL="2773680">
              <a:lnSpc>
                <a:spcPct val="100000"/>
              </a:lnSpc>
              <a:spcBef>
                <a:spcPts val="120"/>
              </a:spcBef>
            </a:pPr>
            <a:r>
              <a:rPr sz="2500" spc="-25" dirty="0">
                <a:solidFill>
                  <a:srgbClr val="682523"/>
                </a:solidFill>
                <a:latin typeface="Arial" panose="020B0604020202020204"/>
                <a:cs typeface="Arial" panose="020B0604020202020204"/>
              </a:rPr>
              <a:t>ADVANTAGES</a:t>
            </a:r>
            <a:endParaRPr sz="2500">
              <a:latin typeface="Arial" panose="020B0604020202020204"/>
              <a:cs typeface="Arial" panose="020B0604020202020204"/>
            </a:endParaRPr>
          </a:p>
        </p:txBody>
      </p:sp>
      <p:pic>
        <p:nvPicPr>
          <p:cNvPr id="5" name="object 5"/>
          <p:cNvPicPr/>
          <p:nvPr/>
        </p:nvPicPr>
        <p:blipFill>
          <a:blip r:embed="rId3" cstate="print"/>
          <a:stretch>
            <a:fillRect/>
          </a:stretch>
        </p:blipFill>
        <p:spPr>
          <a:xfrm>
            <a:off x="340350" y="1247559"/>
            <a:ext cx="237194" cy="223242"/>
          </a:xfrm>
          <a:prstGeom prst="rect">
            <a:avLst/>
          </a:prstGeom>
        </p:spPr>
      </p:pic>
      <p:pic>
        <p:nvPicPr>
          <p:cNvPr id="6" name="object 6"/>
          <p:cNvPicPr/>
          <p:nvPr/>
        </p:nvPicPr>
        <p:blipFill>
          <a:blip r:embed="rId3" cstate="print"/>
          <a:stretch>
            <a:fillRect/>
          </a:stretch>
        </p:blipFill>
        <p:spPr>
          <a:xfrm>
            <a:off x="340350" y="1963839"/>
            <a:ext cx="237194" cy="223242"/>
          </a:xfrm>
          <a:prstGeom prst="rect">
            <a:avLst/>
          </a:prstGeom>
        </p:spPr>
      </p:pic>
      <p:pic>
        <p:nvPicPr>
          <p:cNvPr id="7" name="object 7"/>
          <p:cNvPicPr/>
          <p:nvPr/>
        </p:nvPicPr>
        <p:blipFill>
          <a:blip r:embed="rId3" cstate="print"/>
          <a:stretch>
            <a:fillRect/>
          </a:stretch>
        </p:blipFill>
        <p:spPr>
          <a:xfrm>
            <a:off x="340350" y="2943008"/>
            <a:ext cx="237194" cy="223242"/>
          </a:xfrm>
          <a:prstGeom prst="rect">
            <a:avLst/>
          </a:prstGeom>
        </p:spPr>
      </p:pic>
      <p:pic>
        <p:nvPicPr>
          <p:cNvPr id="8" name="object 8"/>
          <p:cNvPicPr/>
          <p:nvPr/>
        </p:nvPicPr>
        <p:blipFill>
          <a:blip r:embed="rId3" cstate="print"/>
          <a:stretch>
            <a:fillRect/>
          </a:stretch>
        </p:blipFill>
        <p:spPr>
          <a:xfrm>
            <a:off x="340350" y="3659289"/>
            <a:ext cx="237194" cy="223242"/>
          </a:xfrm>
          <a:prstGeom prst="rect">
            <a:avLst/>
          </a:prstGeom>
        </p:spPr>
      </p:pic>
      <p:sp>
        <p:nvSpPr>
          <p:cNvPr id="10" name="object 10"/>
          <p:cNvSpPr txBox="1"/>
          <p:nvPr/>
        </p:nvSpPr>
        <p:spPr>
          <a:xfrm>
            <a:off x="8852129" y="4778067"/>
            <a:ext cx="96520" cy="167640"/>
          </a:xfrm>
          <a:prstGeom prst="rect">
            <a:avLst/>
          </a:prstGeom>
        </p:spPr>
        <p:txBody>
          <a:bodyPr vert="horz" wrap="square" lIns="0" tIns="635" rIns="0" bIns="0" rtlCol="0">
            <a:spAutoFit/>
          </a:bodyPr>
          <a:lstStyle/>
          <a:p>
            <a:pPr marL="12700">
              <a:lnSpc>
                <a:spcPct val="100000"/>
              </a:lnSpc>
              <a:spcBef>
                <a:spcPts val="5"/>
              </a:spcBef>
            </a:pPr>
            <a:r>
              <a:rPr sz="1000" spc="-50" dirty="0">
                <a:solidFill>
                  <a:srgbClr val="595959"/>
                </a:solidFill>
                <a:latin typeface="Arial MT"/>
                <a:cs typeface="Arial MT"/>
              </a:rPr>
              <a:t>9</a:t>
            </a:r>
            <a:endParaRPr sz="1000">
              <a:latin typeface="Arial MT"/>
              <a:cs typeface="Arial MT"/>
            </a:endParaRPr>
          </a:p>
        </p:txBody>
      </p:sp>
      <p:sp>
        <p:nvSpPr>
          <p:cNvPr id="11" name="object 11"/>
          <p:cNvSpPr txBox="1"/>
          <p:nvPr/>
        </p:nvSpPr>
        <p:spPr>
          <a:xfrm>
            <a:off x="8974979" y="4864742"/>
            <a:ext cx="96520" cy="167640"/>
          </a:xfrm>
          <a:prstGeom prst="rect">
            <a:avLst/>
          </a:prstGeom>
        </p:spPr>
        <p:txBody>
          <a:bodyPr vert="horz" wrap="square" lIns="0" tIns="635" rIns="0" bIns="0" rtlCol="0">
            <a:spAutoFit/>
          </a:bodyPr>
          <a:lstStyle/>
          <a:p>
            <a:pPr marL="12700">
              <a:lnSpc>
                <a:spcPct val="100000"/>
              </a:lnSpc>
              <a:spcBef>
                <a:spcPts val="5"/>
              </a:spcBef>
            </a:pPr>
            <a:r>
              <a:rPr sz="1000" spc="-50" dirty="0">
                <a:solidFill>
                  <a:srgbClr val="595959"/>
                </a:solidFill>
                <a:latin typeface="Arial MT"/>
                <a:cs typeface="Arial MT"/>
              </a:rPr>
              <a:t>9</a:t>
            </a:r>
            <a:endParaRPr sz="1000">
              <a:latin typeface="Arial MT"/>
              <a:cs typeface="Arial MT"/>
            </a:endParaRPr>
          </a:p>
        </p:txBody>
      </p:sp>
      <p:sp>
        <p:nvSpPr>
          <p:cNvPr id="12" name="Text Placeholder 11"/>
          <p:cNvSpPr>
            <a:spLocks noGrp="1"/>
          </p:cNvSpPr>
          <p:nvPr>
            <p:ph type="body" idx="1"/>
          </p:nvPr>
        </p:nvSpPr>
        <p:spPr>
          <a:xfrm>
            <a:off x="675640" y="1247140"/>
            <a:ext cx="8448675" cy="3752850"/>
          </a:xfrm>
        </p:spPr>
        <p:txBody>
          <a:bodyPr wrap="square">
            <a:noAutofit/>
          </a:bodyPr>
          <a:lstStyle/>
          <a:p>
            <a:r>
              <a:rPr lang="en-US" altLang="en-US" sz="1500" b="1" dirty="0"/>
              <a:t>Real-Time Operation</a:t>
            </a:r>
          </a:p>
          <a:p>
            <a:r>
              <a:rPr lang="en-US" altLang="en-US" sz="1500" dirty="0"/>
              <a:t>Enables USB packet generation in real-time, suitable for hardware-in-the-loop testing and embedded systems.</a:t>
            </a:r>
          </a:p>
          <a:p>
            <a:endParaRPr lang="en-US" altLang="en-US" sz="1500" b="1" dirty="0"/>
          </a:p>
          <a:p>
            <a:r>
              <a:rPr lang="en-US" altLang="en-US" sz="1500" b="1" dirty="0"/>
              <a:t>Configurable Design</a:t>
            </a:r>
          </a:p>
          <a:p>
            <a:r>
              <a:rPr lang="en-US" altLang="en-US" sz="1500" dirty="0"/>
              <a:t>Allows dynamic control over packet type, payload size, and timing using a register interface—ideal for diverse test scenarios.</a:t>
            </a:r>
          </a:p>
          <a:p>
            <a:endParaRPr lang="en-US" altLang="en-US" dirty="0"/>
          </a:p>
          <a:p>
            <a:r>
              <a:rPr lang="en-US" altLang="en-US" b="1" dirty="0">
                <a:sym typeface="+mn-ea"/>
              </a:rPr>
              <a:t>High Throughput &amp; Low Latency</a:t>
            </a:r>
            <a:endParaRPr lang="en-US" altLang="en-US" b="1" dirty="0"/>
          </a:p>
          <a:p>
            <a:r>
              <a:rPr lang="en-US" altLang="en-US" dirty="0">
                <a:sym typeface="+mn-ea"/>
              </a:rPr>
              <a:t>Achieves near maximum USB Full-Speed throughput (~11.5 Mbps) with minimal latency.</a:t>
            </a:r>
          </a:p>
          <a:p>
            <a:endParaRPr lang="en-US" altLang="en-US" dirty="0">
              <a:sym typeface="+mn-ea"/>
            </a:endParaRPr>
          </a:p>
          <a:p>
            <a:r>
              <a:rPr lang="en-US" altLang="en-US" b="1" dirty="0"/>
              <a:t>Industry-Relevant</a:t>
            </a:r>
          </a:p>
          <a:p>
            <a:r>
              <a:rPr lang="en-US" altLang="en-US" dirty="0"/>
              <a:t> USB communication is widely used in embedded systems, making this project industry-relevant.</a:t>
            </a:r>
          </a:p>
          <a:p>
            <a:r>
              <a:rPr lang="en-US" altLang="en-US" b="1" dirty="0"/>
              <a:t>Protocol Understanding</a:t>
            </a:r>
          </a:p>
          <a:p>
            <a:r>
              <a:rPr lang="en-US" altLang="en-US" dirty="0"/>
              <a:t> Helps you deeply understand packet structure (SYNC, PID, CRC, etc.)</a:t>
            </a:r>
          </a:p>
        </p:txBody>
      </p:sp>
      <p:sp>
        <p:nvSpPr>
          <p:cNvPr id="13" name="Text Box 12"/>
          <p:cNvSpPr txBox="1"/>
          <p:nvPr/>
        </p:nvSpPr>
        <p:spPr>
          <a:xfrm>
            <a:off x="253310" y="4861696"/>
            <a:ext cx="4572000" cy="229870"/>
          </a:xfrm>
          <a:prstGeom prst="rect">
            <a:avLst/>
          </a:prstGeom>
          <a:noFill/>
        </p:spPr>
        <p:txBody>
          <a:bodyPr wrap="square" rtlCol="0" anchor="t">
            <a:spAutoFit/>
          </a:bodyPr>
          <a:lstStyle/>
          <a:p>
            <a:r>
              <a:rPr sz="900" b="1" spc="-10" dirty="0">
                <a:solidFill>
                  <a:srgbClr val="6AA84F"/>
                </a:solidFill>
                <a:latin typeface="Times New Roman" panose="02020603050405020304"/>
                <a:cs typeface="Times New Roman" panose="02020603050405020304"/>
                <a:sym typeface="+mn-ea"/>
              </a:rPr>
              <a:t>BATCH</a:t>
            </a:r>
            <a:r>
              <a:rPr sz="900" b="1" spc="-35" dirty="0">
                <a:solidFill>
                  <a:srgbClr val="6AA84F"/>
                </a:solidFill>
                <a:latin typeface="Times New Roman" panose="02020603050405020304"/>
                <a:cs typeface="Times New Roman" panose="02020603050405020304"/>
                <a:sym typeface="+mn-ea"/>
              </a:rPr>
              <a:t> </a:t>
            </a:r>
            <a:r>
              <a:rPr sz="900" b="1" dirty="0">
                <a:solidFill>
                  <a:srgbClr val="6AA84F"/>
                </a:solidFill>
                <a:latin typeface="Times New Roman" panose="02020603050405020304"/>
                <a:cs typeface="Times New Roman" panose="02020603050405020304"/>
                <a:sym typeface="+mn-ea"/>
              </a:rPr>
              <a:t>NO:</a:t>
            </a:r>
            <a:r>
              <a:rPr sz="900" b="1" spc="-25" dirty="0">
                <a:solidFill>
                  <a:srgbClr val="6AA84F"/>
                </a:solidFill>
                <a:latin typeface="Times New Roman" panose="02020603050405020304"/>
                <a:cs typeface="Times New Roman" panose="02020603050405020304"/>
                <a:sym typeface="+mn-ea"/>
              </a:rPr>
              <a:t> </a:t>
            </a:r>
            <a:r>
              <a:rPr lang="en-IN" altLang="en-US" sz="900" b="1" spc="-25" dirty="0">
                <a:solidFill>
                  <a:srgbClr val="6AA84F"/>
                </a:solidFill>
                <a:latin typeface="Times New Roman" panose="02020603050405020304"/>
                <a:cs typeface="Times New Roman" panose="02020603050405020304"/>
                <a:sym typeface="+mn-ea"/>
              </a:rPr>
              <a:t>DV13</a:t>
            </a:r>
          </a:p>
        </p:txBody>
      </p:sp>
      <p:pic>
        <p:nvPicPr>
          <p:cNvPr id="9" name="object 8">
            <a:extLst>
              <a:ext uri="{FF2B5EF4-FFF2-40B4-BE49-F238E27FC236}">
                <a16:creationId xmlns:a16="http://schemas.microsoft.com/office/drawing/2014/main" id="{3335207C-2A88-238F-41D7-992A4F79DDA7}"/>
              </a:ext>
            </a:extLst>
          </p:cNvPr>
          <p:cNvPicPr/>
          <p:nvPr/>
        </p:nvPicPr>
        <p:blipFill>
          <a:blip r:embed="rId3" cstate="print"/>
          <a:stretch>
            <a:fillRect/>
          </a:stretch>
        </p:blipFill>
        <p:spPr>
          <a:xfrm>
            <a:off x="346394" y="4120084"/>
            <a:ext cx="237194" cy="2232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3025" y="68453"/>
            <a:ext cx="4514215" cy="302260"/>
          </a:xfrm>
          <a:prstGeom prst="rect">
            <a:avLst/>
          </a:prstGeom>
        </p:spPr>
        <p:txBody>
          <a:bodyPr vert="horz" wrap="square" lIns="0" tIns="12700" rIns="0" bIns="0" rtlCol="0">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sz="900">
              <a:latin typeface="Times New Roman" panose="02020603050405020304"/>
              <a:cs typeface="Times New Roman" panose="02020603050405020304"/>
            </a:endParaRPr>
          </a:p>
        </p:txBody>
      </p:sp>
      <p:pic>
        <p:nvPicPr>
          <p:cNvPr id="3" name="object 3"/>
          <p:cNvPicPr/>
          <p:nvPr/>
        </p:nvPicPr>
        <p:blipFill>
          <a:blip r:embed="rId2" cstate="print"/>
          <a:stretch>
            <a:fillRect/>
          </a:stretch>
        </p:blipFill>
        <p:spPr>
          <a:xfrm>
            <a:off x="8494655" y="76200"/>
            <a:ext cx="585899" cy="567840"/>
          </a:xfrm>
          <a:prstGeom prst="rect">
            <a:avLst/>
          </a:prstGeom>
        </p:spPr>
      </p:pic>
      <p:sp>
        <p:nvSpPr>
          <p:cNvPr id="4" name="object 4"/>
          <p:cNvSpPr txBox="1">
            <a:spLocks noGrp="1"/>
          </p:cNvSpPr>
          <p:nvPr>
            <p:ph type="title"/>
          </p:nvPr>
        </p:nvSpPr>
        <p:spPr>
          <a:prstGeom prst="rect">
            <a:avLst/>
          </a:prstGeom>
        </p:spPr>
        <p:txBody>
          <a:bodyPr vert="horz" wrap="square" lIns="0" tIns="303662" rIns="0" bIns="0" rtlCol="0">
            <a:spAutoFit/>
          </a:bodyPr>
          <a:lstStyle/>
          <a:p>
            <a:pPr marL="2355850">
              <a:lnSpc>
                <a:spcPct val="100000"/>
              </a:lnSpc>
              <a:spcBef>
                <a:spcPts val="100"/>
              </a:spcBef>
            </a:pPr>
            <a:r>
              <a:rPr sz="2800" spc="-40" dirty="0">
                <a:solidFill>
                  <a:srgbClr val="682523"/>
                </a:solidFill>
                <a:latin typeface="Arial" panose="020B0604020202020204"/>
                <a:cs typeface="Arial" panose="020B0604020202020204"/>
              </a:rPr>
              <a:t>DISADVANTAGES</a:t>
            </a:r>
            <a:endParaRPr sz="2800" dirty="0">
              <a:latin typeface="Arial" panose="020B0604020202020204"/>
              <a:cs typeface="Arial" panose="020B0604020202020204"/>
            </a:endParaRPr>
          </a:p>
        </p:txBody>
      </p:sp>
      <p:sp>
        <p:nvSpPr>
          <p:cNvPr id="9" name="object 9"/>
          <p:cNvSpPr txBox="1">
            <a:spLocks noGrp="1"/>
          </p:cNvSpPr>
          <p:nvPr>
            <p:ph type="body" idx="1"/>
          </p:nvPr>
        </p:nvSpPr>
        <p:spPr>
          <a:xfrm>
            <a:off x="537845" y="1186815"/>
            <a:ext cx="8213725" cy="3523549"/>
          </a:xfrm>
          <a:prstGeom prst="rect">
            <a:avLst/>
          </a:prstGeom>
        </p:spPr>
        <p:txBody>
          <a:bodyPr vert="horz" wrap="square" lIns="0" tIns="214332" rIns="0" bIns="0" rtlCol="0">
            <a:spAutoFit/>
          </a:bodyPr>
          <a:lstStyle/>
          <a:p>
            <a:pPr marL="354965" marR="5080" indent="-285750">
              <a:lnSpc>
                <a:spcPct val="150000"/>
              </a:lnSpc>
              <a:spcBef>
                <a:spcPts val="100"/>
              </a:spcBef>
              <a:buFont typeface="Wingdings" panose="05000000000000000000" pitchFamily="2" charset="2"/>
              <a:buChar char="q"/>
            </a:pPr>
            <a:r>
              <a:rPr lang="en-US" altLang="en-US" sz="1400" b="1" dirty="0">
                <a:latin typeface="Arial MT"/>
                <a:cs typeface="Arial MT"/>
              </a:rPr>
              <a:t>Complex Protocol</a:t>
            </a:r>
          </a:p>
          <a:p>
            <a:pPr marL="69215" marR="5080">
              <a:lnSpc>
                <a:spcPct val="150000"/>
              </a:lnSpc>
              <a:spcBef>
                <a:spcPts val="100"/>
              </a:spcBef>
            </a:pPr>
            <a:r>
              <a:rPr lang="en-US" altLang="en-US" sz="1400" dirty="0">
                <a:latin typeface="Arial MT"/>
                <a:cs typeface="Arial MT"/>
              </a:rPr>
              <a:t> USB protocol has many layers and states, making full implementation challenging.</a:t>
            </a:r>
          </a:p>
          <a:p>
            <a:pPr marL="354965" marR="5080" indent="-285750">
              <a:lnSpc>
                <a:spcPct val="150000"/>
              </a:lnSpc>
              <a:spcBef>
                <a:spcPts val="100"/>
              </a:spcBef>
              <a:buFont typeface="Wingdings" panose="05000000000000000000" pitchFamily="2" charset="2"/>
              <a:buChar char="q"/>
            </a:pPr>
            <a:r>
              <a:rPr lang="en-US" altLang="en-US" sz="1400" b="1" dirty="0">
                <a:latin typeface="Arial MT"/>
                <a:cs typeface="Arial MT"/>
              </a:rPr>
              <a:t>Limited Scope</a:t>
            </a:r>
          </a:p>
          <a:p>
            <a:pPr marL="69215" marR="5080">
              <a:lnSpc>
                <a:spcPct val="150000"/>
              </a:lnSpc>
              <a:spcBef>
                <a:spcPts val="100"/>
              </a:spcBef>
            </a:pPr>
            <a:r>
              <a:rPr lang="en-US" altLang="en-US" sz="1400" dirty="0">
                <a:latin typeface="Arial MT"/>
                <a:cs typeface="Arial MT"/>
              </a:rPr>
              <a:t>Basic packet generation doesn’t cover full USB stack like enumeration, error handling, etc.</a:t>
            </a:r>
          </a:p>
          <a:p>
            <a:pPr marL="354965" marR="5080" indent="-285750">
              <a:lnSpc>
                <a:spcPct val="150000"/>
              </a:lnSpc>
              <a:spcBef>
                <a:spcPts val="100"/>
              </a:spcBef>
              <a:buFont typeface="Wingdings" panose="05000000000000000000" pitchFamily="2" charset="2"/>
              <a:buChar char="q"/>
            </a:pPr>
            <a:r>
              <a:rPr lang="en-US" altLang="en-US" sz="1400" b="1" dirty="0">
                <a:latin typeface="Arial MT"/>
                <a:cs typeface="Arial MT"/>
              </a:rPr>
              <a:t>No Real Hardware Communication</a:t>
            </a:r>
          </a:p>
          <a:p>
            <a:pPr marL="69215" marR="5080">
              <a:lnSpc>
                <a:spcPct val="150000"/>
              </a:lnSpc>
              <a:spcBef>
                <a:spcPts val="100"/>
              </a:spcBef>
            </a:pPr>
            <a:r>
              <a:rPr lang="en-US" altLang="en-US" sz="1400" dirty="0">
                <a:latin typeface="Arial MT"/>
                <a:cs typeface="Arial MT"/>
              </a:rPr>
              <a:t> Without a physical USB PHY layer, it can’t communicate with real USB hosts/devices.</a:t>
            </a:r>
          </a:p>
          <a:p>
            <a:pPr marL="354965" marR="5080" indent="-285750">
              <a:lnSpc>
                <a:spcPct val="150000"/>
              </a:lnSpc>
              <a:spcBef>
                <a:spcPts val="100"/>
              </a:spcBef>
              <a:buFont typeface="Wingdings" panose="05000000000000000000" pitchFamily="2" charset="2"/>
              <a:buChar char="q"/>
            </a:pPr>
            <a:r>
              <a:rPr lang="en-US" altLang="en-US" sz="1400" b="1" dirty="0">
                <a:latin typeface="Arial MT"/>
                <a:cs typeface="Arial MT"/>
              </a:rPr>
              <a:t>Debug Difficulty</a:t>
            </a:r>
          </a:p>
          <a:p>
            <a:pPr marL="69215" marR="5080">
              <a:lnSpc>
                <a:spcPct val="150000"/>
              </a:lnSpc>
              <a:spcBef>
                <a:spcPts val="100"/>
              </a:spcBef>
            </a:pPr>
            <a:r>
              <a:rPr lang="en-US" altLang="en-US" sz="1400" b="1" dirty="0">
                <a:latin typeface="Arial MT"/>
                <a:cs typeface="Arial MT"/>
              </a:rPr>
              <a:t> </a:t>
            </a:r>
            <a:r>
              <a:rPr lang="en-US" altLang="en-US" sz="1400" dirty="0">
                <a:latin typeface="Arial MT"/>
                <a:cs typeface="Arial MT"/>
              </a:rPr>
              <a:t>Signal-level issues are hard to trace without hardware debugging tools.</a:t>
            </a:r>
          </a:p>
          <a:p>
            <a:pPr marL="354965" marR="5080" indent="-285750">
              <a:lnSpc>
                <a:spcPct val="150000"/>
              </a:lnSpc>
              <a:spcBef>
                <a:spcPts val="100"/>
              </a:spcBef>
              <a:buFont typeface="Wingdings" panose="05000000000000000000" pitchFamily="2" charset="2"/>
              <a:buChar char="q"/>
            </a:pPr>
            <a:r>
              <a:rPr lang="en-US" altLang="en-US" sz="1400" b="1" dirty="0">
                <a:latin typeface="Arial MT"/>
                <a:cs typeface="Arial MT"/>
              </a:rPr>
              <a:t>Speed Constraints</a:t>
            </a:r>
          </a:p>
          <a:p>
            <a:pPr marL="69215" marR="5080">
              <a:lnSpc>
                <a:spcPct val="150000"/>
              </a:lnSpc>
              <a:spcBef>
                <a:spcPts val="100"/>
              </a:spcBef>
            </a:pPr>
            <a:r>
              <a:rPr lang="en-US" altLang="en-US" sz="1400" dirty="0">
                <a:latin typeface="Arial MT"/>
                <a:cs typeface="Arial MT"/>
              </a:rPr>
              <a:t> Simulated USB may not reflect real-world speed or timing accuracy.</a:t>
            </a:r>
          </a:p>
        </p:txBody>
      </p:sp>
      <p:sp>
        <p:nvSpPr>
          <p:cNvPr id="10" name="object 10"/>
          <p:cNvSpPr txBox="1"/>
          <p:nvPr/>
        </p:nvSpPr>
        <p:spPr>
          <a:xfrm>
            <a:off x="8904375" y="4864742"/>
            <a:ext cx="167005" cy="167640"/>
          </a:xfrm>
          <a:prstGeom prst="rect">
            <a:avLst/>
          </a:prstGeom>
        </p:spPr>
        <p:txBody>
          <a:bodyPr vert="horz" wrap="square" lIns="0" tIns="635" rIns="0" bIns="0" rtlCol="0">
            <a:spAutoFit/>
          </a:bodyPr>
          <a:lstStyle/>
          <a:p>
            <a:pPr marL="12700">
              <a:lnSpc>
                <a:spcPct val="100000"/>
              </a:lnSpc>
              <a:spcBef>
                <a:spcPts val="5"/>
              </a:spcBef>
            </a:pPr>
            <a:r>
              <a:rPr sz="1000" spc="-25" dirty="0">
                <a:solidFill>
                  <a:srgbClr val="595959"/>
                </a:solidFill>
                <a:latin typeface="Arial MT"/>
                <a:cs typeface="Arial MT"/>
              </a:rPr>
              <a:t>10</a:t>
            </a:r>
            <a:endParaRPr sz="100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4618" rIns="0" bIns="0" rtlCol="0">
            <a:spAutoFit/>
          </a:bodyPr>
          <a:lstStyle/>
          <a:p>
            <a:pPr marL="2707640">
              <a:lnSpc>
                <a:spcPct val="100000"/>
              </a:lnSpc>
              <a:spcBef>
                <a:spcPts val="100"/>
              </a:spcBef>
            </a:pPr>
            <a:r>
              <a:rPr spc="-10" dirty="0"/>
              <a:t>CONCLUSION</a:t>
            </a:r>
          </a:p>
        </p:txBody>
      </p:sp>
      <p:pic>
        <p:nvPicPr>
          <p:cNvPr id="3" name="object 3"/>
          <p:cNvPicPr/>
          <p:nvPr/>
        </p:nvPicPr>
        <p:blipFill>
          <a:blip r:embed="rId2" cstate="print"/>
          <a:stretch>
            <a:fillRect/>
          </a:stretch>
        </p:blipFill>
        <p:spPr>
          <a:xfrm>
            <a:off x="8453856" y="88925"/>
            <a:ext cx="585899" cy="567840"/>
          </a:xfrm>
          <a:prstGeom prst="rect">
            <a:avLst/>
          </a:prstGeom>
        </p:spPr>
      </p:pic>
      <p:sp>
        <p:nvSpPr>
          <p:cNvPr id="4" name="object 4"/>
          <p:cNvSpPr txBox="1"/>
          <p:nvPr/>
        </p:nvSpPr>
        <p:spPr>
          <a:xfrm>
            <a:off x="73025" y="68453"/>
            <a:ext cx="4514215" cy="302260"/>
          </a:xfrm>
          <a:prstGeom prst="rect">
            <a:avLst/>
          </a:prstGeom>
        </p:spPr>
        <p:txBody>
          <a:bodyPr vert="horz" wrap="square" lIns="0" tIns="12700" rIns="0" bIns="0" rtlCol="0">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sz="900">
              <a:latin typeface="Times New Roman" panose="02020603050405020304"/>
              <a:cs typeface="Times New Roman" panose="02020603050405020304"/>
            </a:endParaRPr>
          </a:p>
        </p:txBody>
      </p:sp>
      <p:sp>
        <p:nvSpPr>
          <p:cNvPr id="6" name="object 6"/>
          <p:cNvSpPr txBox="1"/>
          <p:nvPr/>
        </p:nvSpPr>
        <p:spPr>
          <a:xfrm>
            <a:off x="73025" y="4901298"/>
            <a:ext cx="944244" cy="138430"/>
          </a:xfrm>
          <a:prstGeom prst="rect">
            <a:avLst/>
          </a:prstGeom>
        </p:spPr>
        <p:txBody>
          <a:bodyPr vert="horz" wrap="square" lIns="0" tIns="0" rIns="0" bIns="0" rtlCol="0">
            <a:spAutoFit/>
          </a:bodyPr>
          <a:lstStyle/>
          <a:p>
            <a:pPr marL="12700">
              <a:lnSpc>
                <a:spcPct val="100000"/>
              </a:lnSpc>
            </a:pPr>
            <a:r>
              <a:rPr sz="900" b="1" spc="-10" dirty="0">
                <a:solidFill>
                  <a:srgbClr val="6AA84F"/>
                </a:solidFill>
                <a:latin typeface="Times New Roman" panose="02020603050405020304"/>
                <a:cs typeface="Times New Roman" panose="02020603050405020304"/>
              </a:rPr>
              <a:t>BATCH</a:t>
            </a:r>
            <a:r>
              <a:rPr sz="900" b="1" spc="-35" dirty="0">
                <a:solidFill>
                  <a:srgbClr val="6AA84F"/>
                </a:solidFill>
                <a:latin typeface="Times New Roman" panose="02020603050405020304"/>
                <a:cs typeface="Times New Roman" panose="02020603050405020304"/>
              </a:rPr>
              <a:t> </a:t>
            </a:r>
            <a:r>
              <a:rPr sz="900" b="1" dirty="0">
                <a:solidFill>
                  <a:srgbClr val="6AA84F"/>
                </a:solidFill>
                <a:latin typeface="Times New Roman" panose="02020603050405020304"/>
                <a:cs typeface="Times New Roman" panose="02020603050405020304"/>
              </a:rPr>
              <a:t>NO:</a:t>
            </a:r>
            <a:r>
              <a:rPr sz="900" b="1" spc="-25" dirty="0">
                <a:solidFill>
                  <a:srgbClr val="6AA84F"/>
                </a:solidFill>
                <a:latin typeface="Times New Roman" panose="02020603050405020304"/>
                <a:cs typeface="Times New Roman" panose="02020603050405020304"/>
              </a:rPr>
              <a:t> </a:t>
            </a:r>
            <a:r>
              <a:rPr lang="en-IN" altLang="en-US" sz="900" b="1" spc="-25" dirty="0">
                <a:solidFill>
                  <a:srgbClr val="6AA84F"/>
                </a:solidFill>
                <a:latin typeface="Times New Roman" panose="02020603050405020304"/>
                <a:cs typeface="Times New Roman" panose="02020603050405020304"/>
              </a:rPr>
              <a:t>DV13</a:t>
            </a:r>
          </a:p>
        </p:txBody>
      </p:sp>
      <p:sp>
        <p:nvSpPr>
          <p:cNvPr id="7" name="object 7"/>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14</a:t>
            </a:fld>
            <a:endParaRPr spc="-25" dirty="0"/>
          </a:p>
        </p:txBody>
      </p:sp>
      <p:sp>
        <p:nvSpPr>
          <p:cNvPr id="5" name="object 5"/>
          <p:cNvSpPr txBox="1">
            <a:spLocks noGrp="1"/>
          </p:cNvSpPr>
          <p:nvPr>
            <p:ph type="body" idx="1"/>
          </p:nvPr>
        </p:nvSpPr>
        <p:spPr>
          <a:xfrm>
            <a:off x="327650" y="1186802"/>
            <a:ext cx="8423910" cy="3292568"/>
          </a:xfrm>
          <a:prstGeom prst="rect">
            <a:avLst/>
          </a:prstGeom>
        </p:spPr>
        <p:txBody>
          <a:bodyPr vert="horz" wrap="square" lIns="0" tIns="12700" rIns="0" bIns="0" rtlCol="0">
            <a:spAutoFit/>
          </a:bodyPr>
          <a:lstStyle/>
          <a:p>
            <a:pPr marL="526415" indent="-351155">
              <a:lnSpc>
                <a:spcPct val="150000"/>
              </a:lnSpc>
              <a:spcBef>
                <a:spcPts val="100"/>
              </a:spcBef>
              <a:buFont typeface="Arial MT"/>
              <a:buChar char="●"/>
              <a:tabLst>
                <a:tab pos="527050" algn="l"/>
              </a:tabLst>
            </a:pPr>
            <a:r>
              <a:rPr lang="en-US" dirty="0"/>
              <a:t>In conclusion, this project successfully built a USB packet generator using Verilog at the RTL level, capable of handling real-time data transmission. It was able to create different types of USB packets—like token, data, and handshake packets—while fully following USB protocol standards. Essential features such as CRC error checking, bit stuffing, NRZI encoding, and FSM-based control were all integrated to make the system reliable and efficient. Simulation results confirmed that the design works as intended. Overall, this hardware-based solution offers both speed and accuracy, making it a great fit for real-time applications. It also lays a solid foundation for future improvements, such as adding support for USB 3.0, enhancing error detection, or integrating into more advanced systems.</a:t>
            </a:r>
            <a:endParaRPr spc="-1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6186B-EFB4-F166-A5C7-6BDF3C2BE13B}"/>
              </a:ext>
            </a:extLst>
          </p:cNvPr>
          <p:cNvSpPr>
            <a:spLocks noGrp="1"/>
          </p:cNvSpPr>
          <p:nvPr>
            <p:ph type="title"/>
          </p:nvPr>
        </p:nvSpPr>
        <p:spPr>
          <a:xfrm>
            <a:off x="701675" y="292415"/>
            <a:ext cx="7740650" cy="415498"/>
          </a:xfrm>
        </p:spPr>
        <p:txBody>
          <a:bodyPr/>
          <a:lstStyle/>
          <a:p>
            <a:pPr algn="ctr"/>
            <a:r>
              <a:rPr lang="en-IN" dirty="0"/>
              <a:t>FUTURE SCOPE</a:t>
            </a:r>
          </a:p>
        </p:txBody>
      </p:sp>
      <p:sp>
        <p:nvSpPr>
          <p:cNvPr id="5" name="Text Placeholder 4">
            <a:extLst>
              <a:ext uri="{FF2B5EF4-FFF2-40B4-BE49-F238E27FC236}">
                <a16:creationId xmlns:a16="http://schemas.microsoft.com/office/drawing/2014/main" id="{4003C6BD-F69D-F96B-1F79-FA4B1627C734}"/>
              </a:ext>
            </a:extLst>
          </p:cNvPr>
          <p:cNvSpPr>
            <a:spLocks noGrp="1"/>
          </p:cNvSpPr>
          <p:nvPr>
            <p:ph type="body" idx="1"/>
          </p:nvPr>
        </p:nvSpPr>
        <p:spPr>
          <a:xfrm>
            <a:off x="360045" y="855203"/>
            <a:ext cx="8423910" cy="4018408"/>
          </a:xfrm>
        </p:spPr>
        <p:txBody>
          <a:bodyPr/>
          <a:lstStyle/>
          <a:p>
            <a:pPr>
              <a:lnSpc>
                <a:spcPct val="150000"/>
              </a:lnSpc>
            </a:pPr>
            <a:r>
              <a:rPr lang="en-US" dirty="0"/>
              <a:t>The future of USB packet generators in real-time lies in increased speed, efficiency, and versatility, driven by advancements in USB standards like USB4 and the growing demand for faster data transfer in various applications.</a:t>
            </a:r>
          </a:p>
          <a:p>
            <a:pPr>
              <a:lnSpc>
                <a:spcPct val="150000"/>
              </a:lnSpc>
            </a:pPr>
            <a:r>
              <a:rPr lang="en-US" b="1" dirty="0"/>
              <a:t>Faster Data Transfer</a:t>
            </a:r>
            <a:r>
              <a:rPr lang="en-US" dirty="0"/>
              <a:t>:USB4 and its future iterations, like Version 2.0, promise to deliver significantly faster data transfer rates, potentially doubling the current speeds to 80 Gbps. This will enable quicker file transfers, smoother video streaming, and more efficient data handling for demanding applications. </a:t>
            </a:r>
            <a:r>
              <a:rPr lang="en-US" b="1" dirty="0"/>
              <a:t>Enhanced Debugging and </a:t>
            </a:r>
            <a:r>
              <a:rPr lang="en-US" b="1" dirty="0" err="1"/>
              <a:t>Testing</a:t>
            </a:r>
            <a:r>
              <a:rPr lang="en-US" dirty="0" err="1"/>
              <a:t>:USB</a:t>
            </a:r>
            <a:r>
              <a:rPr lang="en-US" dirty="0"/>
              <a:t> packet generators will play a crucial role in debugging and testing USB interfaces, especially as they become more complex and high-speed. </a:t>
            </a:r>
            <a:r>
              <a:rPr lang="en-US" b="1" dirty="0"/>
              <a:t>Integration with IoT and 5G</a:t>
            </a:r>
            <a:r>
              <a:rPr lang="en-US" dirty="0"/>
              <a:t>:The increasing number of connected devices and the rise of 5G networks will require more efficient and robust USB communication. Packet generators will be essential for testing and verifying the connectivity and performance of devices in these environments.</a:t>
            </a:r>
            <a:endParaRPr lang="en-IN" dirty="0"/>
          </a:p>
        </p:txBody>
      </p:sp>
      <p:sp>
        <p:nvSpPr>
          <p:cNvPr id="6" name="Text Box 5"/>
          <p:cNvSpPr txBox="1"/>
          <p:nvPr/>
        </p:nvSpPr>
        <p:spPr>
          <a:xfrm>
            <a:off x="152400" y="0"/>
            <a:ext cx="4861560" cy="381000"/>
          </a:xfrm>
          <a:prstGeom prst="rect">
            <a:avLst/>
          </a:prstGeom>
          <a:noFill/>
        </p:spPr>
        <p:txBody>
          <a:bodyPr wrap="square" rtlCol="0" anchor="t">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lang="en-US" sz="900">
              <a:latin typeface="Times New Roman" panose="02020603050405020304"/>
              <a:cs typeface="Times New Roman" panose="02020603050405020304"/>
            </a:endParaRPr>
          </a:p>
        </p:txBody>
      </p:sp>
      <p:sp>
        <p:nvSpPr>
          <p:cNvPr id="8" name="Text Box 7"/>
          <p:cNvSpPr txBox="1"/>
          <p:nvPr/>
        </p:nvSpPr>
        <p:spPr>
          <a:xfrm>
            <a:off x="76200" y="4857750"/>
            <a:ext cx="1447165" cy="262255"/>
          </a:xfrm>
          <a:prstGeom prst="rect">
            <a:avLst/>
          </a:prstGeom>
          <a:noFill/>
        </p:spPr>
        <p:txBody>
          <a:bodyPr wrap="square" rtlCol="0" anchor="t">
            <a:noAutofit/>
          </a:bodyPr>
          <a:lstStyle/>
          <a:p>
            <a:r>
              <a:rPr sz="900" b="1" spc="-10" dirty="0">
                <a:solidFill>
                  <a:srgbClr val="6AA84F"/>
                </a:solidFill>
                <a:latin typeface="Times New Roman" panose="02020603050405020304"/>
                <a:cs typeface="Times New Roman" panose="02020603050405020304"/>
                <a:sym typeface="+mn-ea"/>
              </a:rPr>
              <a:t>BATCH</a:t>
            </a:r>
            <a:r>
              <a:rPr sz="900" b="1" spc="-35" dirty="0">
                <a:solidFill>
                  <a:srgbClr val="6AA84F"/>
                </a:solidFill>
                <a:latin typeface="Times New Roman" panose="02020603050405020304"/>
                <a:cs typeface="Times New Roman" panose="02020603050405020304"/>
                <a:sym typeface="+mn-ea"/>
              </a:rPr>
              <a:t> </a:t>
            </a:r>
            <a:r>
              <a:rPr sz="900" b="1" dirty="0">
                <a:solidFill>
                  <a:srgbClr val="6AA84F"/>
                </a:solidFill>
                <a:latin typeface="Times New Roman" panose="02020603050405020304"/>
                <a:cs typeface="Times New Roman" panose="02020603050405020304"/>
                <a:sym typeface="+mn-ea"/>
              </a:rPr>
              <a:t>NO:</a:t>
            </a:r>
            <a:r>
              <a:rPr sz="900" b="1" spc="-25" dirty="0">
                <a:solidFill>
                  <a:srgbClr val="6AA84F"/>
                </a:solidFill>
                <a:latin typeface="Times New Roman" panose="02020603050405020304"/>
                <a:cs typeface="Times New Roman" panose="02020603050405020304"/>
                <a:sym typeface="+mn-ea"/>
              </a:rPr>
              <a:t> </a:t>
            </a:r>
            <a:r>
              <a:rPr lang="en-IN" altLang="en-US" sz="900" b="1" spc="-25" dirty="0">
                <a:solidFill>
                  <a:srgbClr val="6AA84F"/>
                </a:solidFill>
                <a:latin typeface="Times New Roman" panose="02020603050405020304"/>
                <a:cs typeface="Times New Roman" panose="02020603050405020304"/>
                <a:sym typeface="+mn-ea"/>
              </a:rPr>
              <a:t>DV13</a:t>
            </a:r>
          </a:p>
        </p:txBody>
      </p:sp>
      <p:pic>
        <p:nvPicPr>
          <p:cNvPr id="9" name="object 3">
            <a:extLst>
              <a:ext uri="{FF2B5EF4-FFF2-40B4-BE49-F238E27FC236}">
                <a16:creationId xmlns:a16="http://schemas.microsoft.com/office/drawing/2014/main" id="{C6C9028E-C7A7-4C21-BEC6-0D05AA1C3FED}"/>
              </a:ext>
            </a:extLst>
          </p:cNvPr>
          <p:cNvPicPr/>
          <p:nvPr/>
        </p:nvPicPr>
        <p:blipFill>
          <a:blip r:embed="rId2" cstate="print"/>
          <a:stretch>
            <a:fillRect/>
          </a:stretch>
        </p:blipFill>
        <p:spPr>
          <a:xfrm>
            <a:off x="8305800" y="145125"/>
            <a:ext cx="585899" cy="567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533" y="367997"/>
            <a:ext cx="2330450" cy="436880"/>
          </a:xfrm>
          <a:prstGeom prst="rect">
            <a:avLst/>
          </a:prstGeom>
        </p:spPr>
        <p:txBody>
          <a:bodyPr vert="horz" wrap="square" lIns="0" tIns="12700" rIns="0" bIns="0" rtlCol="0">
            <a:spAutoFit/>
          </a:bodyPr>
          <a:lstStyle/>
          <a:p>
            <a:pPr marL="12700">
              <a:lnSpc>
                <a:spcPct val="100000"/>
              </a:lnSpc>
              <a:spcBef>
                <a:spcPts val="100"/>
              </a:spcBef>
            </a:pPr>
            <a:r>
              <a:rPr spc="-10" dirty="0">
                <a:solidFill>
                  <a:srgbClr val="000000"/>
                </a:solidFill>
              </a:rPr>
              <a:t>REFERENCES</a:t>
            </a:r>
          </a:p>
        </p:txBody>
      </p:sp>
      <p:sp>
        <p:nvSpPr>
          <p:cNvPr id="3" name="object 3"/>
          <p:cNvSpPr txBox="1"/>
          <p:nvPr/>
        </p:nvSpPr>
        <p:spPr>
          <a:xfrm>
            <a:off x="727132" y="883534"/>
            <a:ext cx="7766050" cy="3721468"/>
          </a:xfrm>
          <a:prstGeom prst="rect">
            <a:avLst/>
          </a:prstGeom>
        </p:spPr>
        <p:txBody>
          <a:bodyPr vert="horz" wrap="square" lIns="0" tIns="27305" rIns="0" bIns="0" rtlCol="0">
            <a:spAutoFit/>
          </a:bodyPr>
          <a:lstStyle/>
          <a:p>
            <a:pPr marL="297815" marR="14605" indent="-285750" algn="just">
              <a:lnSpc>
                <a:spcPct val="200000"/>
              </a:lnSpc>
              <a:spcBef>
                <a:spcPts val="215"/>
              </a:spcBef>
              <a:buFont typeface="Wingdings" panose="05000000000000000000" pitchFamily="2" charset="2"/>
              <a:buChar char="Ø"/>
              <a:tabLst>
                <a:tab pos="379730" algn="l"/>
              </a:tabLst>
            </a:pPr>
            <a:r>
              <a:rPr lang="en-US" altLang="en-US" sz="1300" dirty="0">
                <a:latin typeface="Times New Roman" panose="02020603050405020304"/>
                <a:cs typeface="Times New Roman" panose="02020603050405020304"/>
              </a:rPr>
              <a:t>USB Implementers Forum, Universal Serial Bus (USB) 2.0 Specification, Revision 2.0, April 2000. https://www.usb.org</a:t>
            </a:r>
          </a:p>
          <a:p>
            <a:pPr marL="297815" marR="14605" indent="-285750" algn="just">
              <a:lnSpc>
                <a:spcPct val="200000"/>
              </a:lnSpc>
              <a:spcBef>
                <a:spcPts val="215"/>
              </a:spcBef>
              <a:buFont typeface="Wingdings" panose="05000000000000000000" pitchFamily="2" charset="2"/>
              <a:buChar char="Ø"/>
              <a:tabLst>
                <a:tab pos="379730" algn="l"/>
              </a:tabLst>
            </a:pPr>
            <a:r>
              <a:rPr lang="en-US" altLang="en-US" sz="1300" dirty="0">
                <a:latin typeface="Times New Roman" panose="02020603050405020304"/>
                <a:cs typeface="Times New Roman" panose="02020603050405020304"/>
              </a:rPr>
              <a:t>  Samir Palnitkar, Verilog HDL: A Guide to Digital Design and Synthesis, 2nd Edition, Pearson Education, 2003.</a:t>
            </a:r>
          </a:p>
          <a:p>
            <a:pPr marL="297815" marR="14605" indent="-285750" algn="just">
              <a:lnSpc>
                <a:spcPct val="200000"/>
              </a:lnSpc>
              <a:spcBef>
                <a:spcPts val="215"/>
              </a:spcBef>
              <a:buFont typeface="Wingdings" panose="05000000000000000000" pitchFamily="2" charset="2"/>
              <a:buChar char="Ø"/>
              <a:tabLst>
                <a:tab pos="379730" algn="l"/>
              </a:tabLst>
            </a:pPr>
            <a:r>
              <a:rPr lang="en-US" altLang="en-US" sz="1300" dirty="0">
                <a:latin typeface="Times New Roman" panose="02020603050405020304"/>
                <a:cs typeface="Times New Roman" panose="02020603050405020304"/>
              </a:rPr>
              <a:t> Jan Axelson, USB Complete: The Developer’s Guide, Fifth Edition, Lakeview Research, 2015.</a:t>
            </a:r>
          </a:p>
          <a:p>
            <a:pPr marL="297815" marR="14605" indent="-285750" algn="just">
              <a:lnSpc>
                <a:spcPct val="200000"/>
              </a:lnSpc>
              <a:spcBef>
                <a:spcPts val="215"/>
              </a:spcBef>
              <a:buFont typeface="Wingdings" panose="05000000000000000000" pitchFamily="2" charset="2"/>
              <a:buChar char="Ø"/>
              <a:tabLst>
                <a:tab pos="379730" algn="l"/>
              </a:tabLst>
            </a:pPr>
            <a:r>
              <a:rPr lang="en-US" altLang="en-US" sz="1300" dirty="0">
                <a:latin typeface="Times New Roman" panose="02020603050405020304"/>
                <a:cs typeface="Times New Roman" panose="02020603050405020304"/>
              </a:rPr>
              <a:t>Behrouz Forouzan, Data Communications and Networking, Fifth Edition, McGraw-Hill Education, 2013.</a:t>
            </a:r>
          </a:p>
          <a:p>
            <a:pPr marL="297815" marR="14605" indent="-285750" algn="just">
              <a:lnSpc>
                <a:spcPct val="200000"/>
              </a:lnSpc>
              <a:spcBef>
                <a:spcPts val="215"/>
              </a:spcBef>
              <a:buFont typeface="Wingdings" panose="05000000000000000000" pitchFamily="2" charset="2"/>
              <a:buChar char="Ø"/>
              <a:tabLst>
                <a:tab pos="379730" algn="l"/>
              </a:tabLst>
            </a:pPr>
            <a:r>
              <a:rPr lang="en-US" altLang="en-US" sz="1300" dirty="0">
                <a:latin typeface="Times New Roman" panose="02020603050405020304"/>
                <a:cs typeface="Times New Roman" panose="02020603050405020304"/>
              </a:rPr>
              <a:t> Douglas L. Perry, VHDL and Verilog Compared and Contrasted, Springer, 2002.</a:t>
            </a:r>
          </a:p>
          <a:p>
            <a:pPr marL="297815" marR="14605" indent="-285750" algn="just">
              <a:lnSpc>
                <a:spcPct val="200000"/>
              </a:lnSpc>
              <a:spcBef>
                <a:spcPts val="215"/>
              </a:spcBef>
              <a:buFont typeface="Wingdings" panose="05000000000000000000" pitchFamily="2" charset="2"/>
              <a:buChar char="Ø"/>
              <a:tabLst>
                <a:tab pos="379730" algn="l"/>
              </a:tabLst>
            </a:pPr>
            <a:r>
              <a:rPr lang="en-US" altLang="en-US" sz="1300" dirty="0">
                <a:latin typeface="Times New Roman" panose="02020603050405020304"/>
                <a:cs typeface="Times New Roman" panose="02020603050405020304"/>
              </a:rPr>
              <a:t> IEEE Standard 1364-2005, IEEE Standard for Verilog Hardware Description Language.</a:t>
            </a:r>
          </a:p>
          <a:p>
            <a:pPr marL="297815" marR="14605" indent="-285750" algn="just">
              <a:lnSpc>
                <a:spcPct val="200000"/>
              </a:lnSpc>
              <a:spcBef>
                <a:spcPts val="215"/>
              </a:spcBef>
              <a:buFont typeface="Arial" panose="020B0604020202020204" pitchFamily="34" charset="0"/>
              <a:buChar char="•"/>
              <a:tabLst>
                <a:tab pos="379730" algn="l"/>
              </a:tabLst>
            </a:pPr>
            <a:endParaRPr lang="en-US" altLang="en-US" sz="1300" dirty="0">
              <a:latin typeface="Times New Roman" panose="02020603050405020304"/>
              <a:cs typeface="Times New Roman" panose="02020603050405020304"/>
            </a:endParaRPr>
          </a:p>
        </p:txBody>
      </p:sp>
      <p:pic>
        <p:nvPicPr>
          <p:cNvPr id="4" name="object 4"/>
          <p:cNvPicPr/>
          <p:nvPr/>
        </p:nvPicPr>
        <p:blipFill>
          <a:blip r:embed="rId2" cstate="print"/>
          <a:stretch>
            <a:fillRect/>
          </a:stretch>
        </p:blipFill>
        <p:spPr>
          <a:xfrm>
            <a:off x="8418055" y="63650"/>
            <a:ext cx="585899" cy="567840"/>
          </a:xfrm>
          <a:prstGeom prst="rect">
            <a:avLst/>
          </a:prstGeom>
        </p:spPr>
      </p:pic>
      <p:sp>
        <p:nvSpPr>
          <p:cNvPr id="5" name="object 5"/>
          <p:cNvSpPr txBox="1"/>
          <p:nvPr/>
        </p:nvSpPr>
        <p:spPr>
          <a:xfrm>
            <a:off x="73025" y="68453"/>
            <a:ext cx="4514215" cy="302260"/>
          </a:xfrm>
          <a:prstGeom prst="rect">
            <a:avLst/>
          </a:prstGeom>
        </p:spPr>
        <p:txBody>
          <a:bodyPr vert="horz" wrap="square" lIns="0" tIns="12700" rIns="0" bIns="0" rtlCol="0">
            <a:spAutoFit/>
          </a:bodyPr>
          <a:lstStyle/>
          <a:p>
            <a:pPr marL="12700">
              <a:lnSpc>
                <a:spcPct val="100000"/>
              </a:lnSpc>
              <a:spcBef>
                <a:spcPts val="100"/>
              </a:spcBef>
            </a:pPr>
            <a:r>
              <a:rPr lang="en-US" altLang="en-US" sz="900" b="1" dirty="0">
                <a:solidFill>
                  <a:srgbClr val="6AA84F"/>
                </a:solidFill>
                <a:latin typeface="Times New Roman" panose="02020603050405020304"/>
                <a:cs typeface="Times New Roman" panose="02020603050405020304"/>
                <a:sym typeface="+mn-ea"/>
              </a:rPr>
              <a:t>RTL BASED USB PACKET GENERATOR FOR REAL TIME DATA STREAMING </a:t>
            </a:r>
            <a:endParaRPr sz="900">
              <a:latin typeface="Times New Roman" panose="02020603050405020304"/>
              <a:cs typeface="Times New Roman" panose="02020603050405020304"/>
            </a:endParaRPr>
          </a:p>
          <a:p>
            <a:pPr marL="12700">
              <a:lnSpc>
                <a:spcPct val="100000"/>
              </a:lnSpc>
              <a:spcBef>
                <a:spcPts val="100"/>
              </a:spcBef>
            </a:pPr>
            <a:endParaRPr sz="900">
              <a:latin typeface="Times New Roman" panose="02020603050405020304"/>
              <a:cs typeface="Times New Roman" panose="02020603050405020304"/>
            </a:endParaRPr>
          </a:p>
        </p:txBody>
      </p:sp>
      <p:sp>
        <p:nvSpPr>
          <p:cNvPr id="6" name="object 6"/>
          <p:cNvSpPr txBox="1"/>
          <p:nvPr/>
        </p:nvSpPr>
        <p:spPr>
          <a:xfrm>
            <a:off x="73025" y="4901298"/>
            <a:ext cx="944244" cy="138430"/>
          </a:xfrm>
          <a:prstGeom prst="rect">
            <a:avLst/>
          </a:prstGeom>
        </p:spPr>
        <p:txBody>
          <a:bodyPr vert="horz" wrap="square" lIns="0" tIns="0" rIns="0" bIns="0" rtlCol="0">
            <a:spAutoFit/>
          </a:bodyPr>
          <a:lstStyle/>
          <a:p>
            <a:pPr marL="12700">
              <a:lnSpc>
                <a:spcPct val="100000"/>
              </a:lnSpc>
            </a:pPr>
            <a:r>
              <a:rPr sz="900" b="1" spc="-10" dirty="0">
                <a:solidFill>
                  <a:srgbClr val="6AA84F"/>
                </a:solidFill>
                <a:latin typeface="Times New Roman" panose="02020603050405020304"/>
                <a:cs typeface="Times New Roman" panose="02020603050405020304"/>
              </a:rPr>
              <a:t>BATCH</a:t>
            </a:r>
            <a:r>
              <a:rPr sz="900" b="1" spc="-35" dirty="0">
                <a:solidFill>
                  <a:srgbClr val="6AA84F"/>
                </a:solidFill>
                <a:latin typeface="Times New Roman" panose="02020603050405020304"/>
                <a:cs typeface="Times New Roman" panose="02020603050405020304"/>
              </a:rPr>
              <a:t> </a:t>
            </a:r>
            <a:r>
              <a:rPr sz="900" b="1" dirty="0">
                <a:solidFill>
                  <a:srgbClr val="6AA84F"/>
                </a:solidFill>
                <a:latin typeface="Times New Roman" panose="02020603050405020304"/>
                <a:cs typeface="Times New Roman" panose="02020603050405020304"/>
              </a:rPr>
              <a:t>NO:</a:t>
            </a:r>
            <a:r>
              <a:rPr sz="900" b="1" spc="-25" dirty="0">
                <a:solidFill>
                  <a:srgbClr val="6AA84F"/>
                </a:solidFill>
                <a:latin typeface="Times New Roman" panose="02020603050405020304"/>
                <a:cs typeface="Times New Roman" panose="02020603050405020304"/>
              </a:rPr>
              <a:t> </a:t>
            </a:r>
            <a:r>
              <a:rPr lang="en-IN" altLang="en-US" sz="900" b="1" spc="-25" dirty="0">
                <a:solidFill>
                  <a:srgbClr val="6AA84F"/>
                </a:solidFill>
                <a:latin typeface="Times New Roman" panose="02020603050405020304"/>
                <a:cs typeface="Times New Roman" panose="02020603050405020304"/>
              </a:rPr>
              <a:t>DV13</a:t>
            </a:r>
          </a:p>
        </p:txBody>
      </p:sp>
      <p:sp>
        <p:nvSpPr>
          <p:cNvPr id="7" name="object 7"/>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82981" y="1829962"/>
            <a:ext cx="5182235" cy="1107440"/>
          </a:xfrm>
          <a:prstGeom prst="rect">
            <a:avLst/>
          </a:prstGeom>
        </p:spPr>
        <p:txBody>
          <a:bodyPr vert="horz" wrap="square" lIns="0" tIns="12700" rIns="0" bIns="0" rtlCol="0">
            <a:spAutoFit/>
          </a:bodyPr>
          <a:lstStyle/>
          <a:p>
            <a:pPr marL="12700">
              <a:lnSpc>
                <a:spcPct val="100000"/>
              </a:lnSpc>
              <a:spcBef>
                <a:spcPts val="100"/>
              </a:spcBef>
            </a:pPr>
            <a:r>
              <a:rPr sz="7100" b="1" spc="135" dirty="0">
                <a:solidFill>
                  <a:srgbClr val="134F5C"/>
                </a:solidFill>
                <a:latin typeface="Cambria" panose="02040503050406030204"/>
                <a:cs typeface="Cambria" panose="02040503050406030204"/>
              </a:rPr>
              <a:t>THANK</a:t>
            </a:r>
            <a:r>
              <a:rPr sz="7100" b="1" spc="-135" dirty="0">
                <a:solidFill>
                  <a:srgbClr val="134F5C"/>
                </a:solidFill>
                <a:latin typeface="Cambria" panose="02040503050406030204"/>
                <a:cs typeface="Cambria" panose="02040503050406030204"/>
              </a:rPr>
              <a:t> </a:t>
            </a:r>
            <a:r>
              <a:rPr sz="7100" b="1" spc="90" dirty="0">
                <a:solidFill>
                  <a:srgbClr val="134F5C"/>
                </a:solidFill>
                <a:latin typeface="Cambria" panose="02040503050406030204"/>
                <a:cs typeface="Cambria" panose="02040503050406030204"/>
              </a:rPr>
              <a:t>YOU</a:t>
            </a:r>
            <a:endParaRPr sz="7100">
              <a:latin typeface="Cambria" panose="02040503050406030204"/>
              <a:cs typeface="Cambria" panose="02040503050406030204"/>
            </a:endParaRPr>
          </a:p>
        </p:txBody>
      </p:sp>
      <p:sp>
        <p:nvSpPr>
          <p:cNvPr id="3" name="object 3"/>
          <p:cNvSpPr txBox="1">
            <a:spLocks noGrp="1"/>
          </p:cNvSpPr>
          <p:nvPr>
            <p:ph type="ctrTitle"/>
          </p:nvPr>
        </p:nvSpPr>
        <p:spPr>
          <a:xfrm>
            <a:off x="73025" y="68453"/>
            <a:ext cx="4514215" cy="151130"/>
          </a:xfrm>
          <a:prstGeom prst="rect">
            <a:avLst/>
          </a:prstGeom>
        </p:spPr>
        <p:txBody>
          <a:bodyPr vert="horz" wrap="square" lIns="0" tIns="12700" rIns="0" bIns="0" rtlCol="0">
            <a:spAutoFit/>
          </a:bodyPr>
          <a:lstStyle/>
          <a:p>
            <a:pPr marL="12700">
              <a:lnSpc>
                <a:spcPct val="100000"/>
              </a:lnSpc>
              <a:spcBef>
                <a:spcPts val="100"/>
              </a:spcBef>
            </a:pPr>
            <a:r>
              <a:rPr lang="en-US" altLang="en-US" sz="900" dirty="0">
                <a:solidFill>
                  <a:srgbClr val="6AA84F"/>
                </a:solidFill>
                <a:sym typeface="+mn-ea"/>
              </a:rPr>
              <a:t>RTL BASED USB PACKET GENERATOR FOR REAL TIME DATA STREAMING </a:t>
            </a:r>
            <a:endParaRPr sz="900"/>
          </a:p>
        </p:txBody>
      </p:sp>
      <p:pic>
        <p:nvPicPr>
          <p:cNvPr id="4" name="object 4"/>
          <p:cNvPicPr/>
          <p:nvPr/>
        </p:nvPicPr>
        <p:blipFill>
          <a:blip r:embed="rId2" cstate="print"/>
          <a:stretch>
            <a:fillRect/>
          </a:stretch>
        </p:blipFill>
        <p:spPr>
          <a:xfrm>
            <a:off x="8418055" y="63650"/>
            <a:ext cx="585899" cy="567840"/>
          </a:xfrm>
          <a:prstGeom prst="rect">
            <a:avLst/>
          </a:prstGeom>
        </p:spPr>
      </p:pic>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17</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1982</Words>
  <Application>Microsoft Office PowerPoint</Application>
  <PresentationFormat>On-screen Show (16:9)</PresentationFormat>
  <Paragraphs>170</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CMR COLLEGE OF ENGINEERING &amp; TECHNOLOGY</vt:lpstr>
      <vt:lpstr>CONTENT</vt:lpstr>
      <vt:lpstr> ABSTRACT</vt:lpstr>
      <vt:lpstr>OBJECTIVES</vt:lpstr>
      <vt:lpstr>PROPOSED METHOD</vt:lpstr>
      <vt:lpstr>BLOCK DIAGRAM</vt:lpstr>
      <vt:lpstr>EXISTING SOLUTIONS</vt:lpstr>
      <vt:lpstr>EXPLANATION </vt:lpstr>
      <vt:lpstr>CONTD..</vt:lpstr>
      <vt:lpstr>RESULT</vt:lpstr>
      <vt:lpstr>RESULT</vt:lpstr>
      <vt:lpstr>ADVANTAGES</vt:lpstr>
      <vt:lpstr>DISADVANTAGES</vt:lpstr>
      <vt:lpstr>CONCLUSION</vt:lpstr>
      <vt:lpstr>FUTURE SCOPE</vt:lpstr>
      <vt:lpstr>REFERENCES</vt:lpstr>
      <vt:lpstr>RTL BASED USB PACKET GENERATOR FOR REAL TIME DATA STREAMING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CMR COLLEGE OF ENGINEERING &amp; TECHNOLOGY</dc:title>
  <dc:creator>Vaishnavi Gurram</dc:creator>
  <cp:lastModifiedBy>K LASYA PRIYA</cp:lastModifiedBy>
  <cp:revision>9</cp:revision>
  <dcterms:created xsi:type="dcterms:W3CDTF">2025-06-13T09:12:00Z</dcterms:created>
  <dcterms:modified xsi:type="dcterms:W3CDTF">2025-07-11T13:28:20Z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2025-06-13T11:00:00Z</vt:filetime>
  </property>
  <property fmtid="{D5CDD505-2E9C-101B-9397-08002B2CF9AE}" pid="3" name="Creator">
    <vt:lpwstr>Google</vt:lpwstr>
  </property>
  <property fmtid="{D5CDD505-2E9C-101B-9397-08002B2CF9AE}" pid="4" name="LastSaved">
    <vt:filetime>2025-06-13T11:00:00Z</vt:filetime>
  </property>
  <property fmtid="{D5CDD505-2E9C-101B-9397-08002B2CF9AE}" pid="5" name="ICV">
    <vt:lpwstr>9766ECE409A44463B3563333F3A5EF0A_13</vt:lpwstr>
  </property>
  <property fmtid="{D5CDD505-2E9C-101B-9397-08002B2CF9AE}" pid="6" name="KSOProductBuildVer">
    <vt:lpwstr>1033-12.2.0.21179</vt:lpwstr>
  </property>
</Properties>
</file>